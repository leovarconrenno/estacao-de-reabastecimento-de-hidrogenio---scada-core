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43F5FCD-3718-4F95-A315-AA6BB8D460DA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C74D92-8564-4C07-9A5B-6AB72B15D4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42AB01-B2AE-4B23-92C2-6D6AD6B02F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B0007E-0406-443B-B507-0F2C5B358E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387105-1F45-408F-9E8D-074F7A21EF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C5C640-A76C-4157-9361-462BAB59CC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32805D-12AE-4215-94D3-D0A831070C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AED8A5-C564-4CAC-A70E-523B4160DA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D23D01-8617-41CA-AE8D-541EEAF732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84D471-0A80-4DA7-9FB9-79A7C09AEC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97AE36-1204-419A-95D9-2B55AB2D23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42060D-6E87-4895-95FF-3A5A7696AE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C98B0C-9B10-48E4-827A-A364A459D4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DA065A-E854-4517-8EF7-38317F0800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0CDE2E-E960-44DC-A6BD-07B96E25B0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5E25A8-3299-44C8-A532-6894822269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E5CCFA-AF8C-4BDF-A317-AE42641A82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FB74C0-4693-4D3B-8A04-0A9164185E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B1FFF1-00B6-4872-9B5C-F6D6D50B9C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image" Target="../media/image10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138160" y="0"/>
            <a:ext cx="4053240" cy="6857640"/>
          </a:xfrm>
          <a:prstGeom prst="rect">
            <a:avLst/>
          </a:prstGeom>
          <a:solidFill>
            <a:srgbClr val="1325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915400" y="2331720"/>
            <a:ext cx="1416960" cy="14169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0" descr="/home/claude/deck/icons/hydrogen.png"/>
          <p:cNvPicPr/>
          <p:nvPr/>
        </p:nvPicPr>
        <p:blipFill>
          <a:blip r:embed="rId1"/>
          <a:stretch/>
        </p:blipFill>
        <p:spPr>
          <a:xfrm>
            <a:off x="9234360" y="2650680"/>
            <a:ext cx="779040" cy="77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Text 2"/>
          <p:cNvSpPr/>
          <p:nvPr/>
        </p:nvSpPr>
        <p:spPr>
          <a:xfrm>
            <a:off x="640080" y="23317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300" strike="noStrike">
                <a:solidFill>
                  <a:srgbClr val="E3B23C"/>
                </a:solidFill>
                <a:effectLst/>
                <a:uFillTx/>
                <a:latin typeface="Calibri"/>
                <a:ea typeface="Calibri"/>
              </a:rPr>
              <a:t>SCADA-CORE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621720" y="2743200"/>
            <a:ext cx="73148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4799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Estação de Reabastecimento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99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de Hidrogênio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640080" y="4434840"/>
            <a:ext cx="7131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9FB4C6"/>
                </a:solidFill>
                <a:effectLst/>
                <a:uFillTx/>
                <a:latin typeface="Calibri"/>
                <a:ea typeface="Calibri"/>
              </a:rPr>
              <a:t>Módulo 1 — Lógica Formal, Intertravamentos e Sistemas Especialistas de Diagnóstico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640080" y="5257800"/>
            <a:ext cx="2148480" cy="594000"/>
          </a:xfrm>
          <a:prstGeom prst="roundRect">
            <a:avLst>
              <a:gd name="adj" fmla="val 15385"/>
            </a:avLst>
          </a:prstGeom>
          <a:solidFill>
            <a:srgbClr val="13253F"/>
          </a:solidFill>
          <a:ln w="15875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640080" y="5257800"/>
            <a:ext cx="2148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100  </a:t>
            </a:r>
            <a:r>
              <a:rPr lang="en-US" sz="1200" b="0" u="none" strike="noStrike">
                <a:solidFill>
                  <a:srgbClr val="C9D6E0"/>
                </a:solidFill>
                <a:effectLst/>
                <a:uFillTx/>
                <a:latin typeface="Calibri"/>
                <a:ea typeface="Calibri"/>
              </a:rPr>
              <a:t>Armazenamento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7"/>
          <p:cNvSpPr/>
          <p:nvPr/>
        </p:nvSpPr>
        <p:spPr>
          <a:xfrm>
            <a:off x="2971800" y="5257800"/>
            <a:ext cx="2148480" cy="594000"/>
          </a:xfrm>
          <a:prstGeom prst="roundRect">
            <a:avLst>
              <a:gd name="adj" fmla="val 15385"/>
            </a:avLst>
          </a:prstGeom>
          <a:solidFill>
            <a:srgbClr val="13253F"/>
          </a:solidFill>
          <a:ln w="15875">
            <a:solidFill>
              <a:srgbClr val="2E9C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2971800" y="5257800"/>
            <a:ext cx="2148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E9CCA"/>
                </a:solidFill>
                <a:effectLst/>
                <a:uFillTx/>
                <a:latin typeface="Calibri"/>
                <a:ea typeface="Calibri"/>
              </a:rPr>
              <a:t>200  </a:t>
            </a:r>
            <a:r>
              <a:rPr lang="en-US" sz="1200" b="0" u="none" strike="noStrike">
                <a:solidFill>
                  <a:srgbClr val="C9D6E0"/>
                </a:solidFill>
                <a:effectLst/>
                <a:uFillTx/>
                <a:latin typeface="Calibri"/>
                <a:ea typeface="Calibri"/>
              </a:rPr>
              <a:t>Condicionamento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9"/>
          <p:cNvSpPr/>
          <p:nvPr/>
        </p:nvSpPr>
        <p:spPr>
          <a:xfrm>
            <a:off x="5303520" y="5257800"/>
            <a:ext cx="2148480" cy="594000"/>
          </a:xfrm>
          <a:prstGeom prst="roundRect">
            <a:avLst>
              <a:gd name="adj" fmla="val 15385"/>
            </a:avLst>
          </a:prstGeom>
          <a:solidFill>
            <a:srgbClr val="13253F"/>
          </a:solidFill>
          <a:ln w="15875">
            <a:solidFill>
              <a:srgbClr val="E862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5303520" y="5257800"/>
            <a:ext cx="2148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622C"/>
                </a:solidFill>
                <a:effectLst/>
                <a:uFillTx/>
                <a:latin typeface="Calibri"/>
                <a:ea typeface="Calibri"/>
              </a:rPr>
              <a:t>300  </a:t>
            </a:r>
            <a:r>
              <a:rPr lang="en-US" sz="1200" b="0" u="none" strike="noStrike">
                <a:solidFill>
                  <a:srgbClr val="C9D6E0"/>
                </a:solidFill>
                <a:effectLst/>
                <a:uFillTx/>
                <a:latin typeface="Calibri"/>
                <a:ea typeface="Calibri"/>
              </a:rPr>
              <a:t>Dispensação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640080" y="6172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90A3"/>
                </a:solidFill>
                <a:effectLst/>
                <a:uFillTx/>
                <a:latin typeface="Calibri"/>
                <a:ea typeface="Calibri"/>
              </a:rPr>
              <a:t>João Pedro  ·  Marcelo Candelária  ·  Luca Augusto  ·  Leo Vargas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54864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INTRODUÇÃO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548640" y="74988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Um SCADA para supervisionar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uma estação de H₂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54864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9AA9B5"/>
                </a:solidFill>
                <a:effectLst/>
                <a:uFillTx/>
                <a:latin typeface="Calibri"/>
                <a:ea typeface="Calibri"/>
              </a:rPr>
              <a:t>ESTAÇÃO DE REABASTECIMENTO DE HIDROGÊNIO  ·  SCADA-CORE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1152144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4"/>
          <p:cNvSpPr/>
          <p:nvPr/>
        </p:nvSpPr>
        <p:spPr>
          <a:xfrm>
            <a:off x="548640" y="1965960"/>
            <a:ext cx="61261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O projeto desenvolve um sistema SCADA (Supervisory Control and Data Acquisition) para simular e supervisionar o ciclo operacional de uma estação de reabastecimento de hidrogênio voltada a veículos movidos a célula de combustível (FCEV).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548640" y="3383280"/>
            <a:ext cx="6126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A planta envolve armazenamento, condicionamento, pressurização e transferência de H₂. O SCADA-Core centraliza os sinais de campo, aplica a lógica de intertravamento e trata alarmes e situações de falha por meio de um motor de diagnóstico baseado em regras.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6"/>
          <p:cNvSpPr/>
          <p:nvPr/>
        </p:nvSpPr>
        <p:spPr>
          <a:xfrm>
            <a:off x="7086600" y="1874520"/>
            <a:ext cx="4525920" cy="4160160"/>
          </a:xfrm>
          <a:prstGeom prst="roundRect">
            <a:avLst>
              <a:gd name="adj" fmla="val 2637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7452360" y="210312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150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ESTA ETAPA (LÓGICA) COBRE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7452360" y="2560320"/>
            <a:ext cx="50256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0" descr="/home/claude/deck/icons/sitemap.png"/>
          <p:cNvPicPr/>
          <p:nvPr/>
        </p:nvPicPr>
        <p:blipFill>
          <a:blip r:embed="rId1"/>
          <a:stretch/>
        </p:blipFill>
        <p:spPr>
          <a:xfrm>
            <a:off x="7565400" y="267336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9"/>
          <p:cNvSpPr/>
          <p:nvPr/>
        </p:nvSpPr>
        <p:spPr>
          <a:xfrm>
            <a:off x="8138160" y="2505600"/>
            <a:ext cx="3337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51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Mapeamento de variáveis físicas em proposições lógicas (ISA-5.1)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0"/>
          <p:cNvSpPr/>
          <p:nvPr/>
        </p:nvSpPr>
        <p:spPr>
          <a:xfrm>
            <a:off x="7452360" y="3401640"/>
            <a:ext cx="50256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1" descr="/home/claude/deck/icons/branch.png"/>
          <p:cNvPicPr/>
          <p:nvPr/>
        </p:nvPicPr>
        <p:blipFill>
          <a:blip r:embed="rId2"/>
          <a:stretch/>
        </p:blipFill>
        <p:spPr>
          <a:xfrm>
            <a:off x="7565400" y="351468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11"/>
          <p:cNvSpPr/>
          <p:nvPr/>
        </p:nvSpPr>
        <p:spPr>
          <a:xfrm>
            <a:off x="8138160" y="3346560"/>
            <a:ext cx="3337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51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Intertravamentos, permissivos e tabelas-verdade de segurança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2"/>
          <p:cNvSpPr/>
          <p:nvPr/>
        </p:nvSpPr>
        <p:spPr>
          <a:xfrm>
            <a:off x="7452360" y="4242960"/>
            <a:ext cx="50256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2" descr="/home/claude/deck/icons/calc.png"/>
          <p:cNvPicPr/>
          <p:nvPr/>
        </p:nvPicPr>
        <p:blipFill>
          <a:blip r:embed="rId3"/>
          <a:stretch/>
        </p:blipFill>
        <p:spPr>
          <a:xfrm>
            <a:off x="7565400" y="435600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 13"/>
          <p:cNvSpPr/>
          <p:nvPr/>
        </p:nvSpPr>
        <p:spPr>
          <a:xfrm>
            <a:off x="8138160" y="4187880"/>
            <a:ext cx="3337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51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Otimização booleana (Quine-McCluskey) para o ciclo de scan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4"/>
          <p:cNvSpPr/>
          <p:nvPr/>
        </p:nvSpPr>
        <p:spPr>
          <a:xfrm>
            <a:off x="7452360" y="5083920"/>
            <a:ext cx="50256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" name="Image 3" descr="/home/claude/deck/icons/brain.png"/>
          <p:cNvPicPr/>
          <p:nvPr/>
        </p:nvPicPr>
        <p:blipFill>
          <a:blip r:embed="rId4"/>
          <a:stretch/>
        </p:blipFill>
        <p:spPr>
          <a:xfrm>
            <a:off x="7565400" y="519732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 15"/>
          <p:cNvSpPr/>
          <p:nvPr/>
        </p:nvSpPr>
        <p:spPr>
          <a:xfrm>
            <a:off x="8138160" y="5029200"/>
            <a:ext cx="3337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51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Base de conhecimento e motor de inferência para diagnóstico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54864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ARQUITETURA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548640" y="74988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A planta em três setores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54864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9AA9B5"/>
                </a:solidFill>
                <a:effectLst/>
                <a:uFillTx/>
                <a:latin typeface="Calibri"/>
                <a:ea typeface="Calibri"/>
              </a:rPr>
              <a:t>ESTAÇÃO DE REABASTECIMENTO DE HIDROGÊNIO  ·  SCADA-CORE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1152144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548640" y="1600200"/>
            <a:ext cx="10698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Do banco de cilindros até o bico do veículo, o fluxo de H₂ atravessa três setores de instrumentação e controle — cada um com seu próprio conjunto de sensores, atuadores e regras de intertravamento.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5"/>
          <p:cNvSpPr/>
          <p:nvPr/>
        </p:nvSpPr>
        <p:spPr>
          <a:xfrm>
            <a:off x="548640" y="2331720"/>
            <a:ext cx="3474360" cy="3794400"/>
          </a:xfrm>
          <a:prstGeom prst="roundRect">
            <a:avLst>
              <a:gd name="adj" fmla="val 3158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548640" y="2331720"/>
            <a:ext cx="3474360" cy="7272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7"/>
          <p:cNvSpPr/>
          <p:nvPr/>
        </p:nvSpPr>
        <p:spPr>
          <a:xfrm>
            <a:off x="868680" y="2651760"/>
            <a:ext cx="776880" cy="7768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0" descr="/home/claude/deck/icons/tank.png"/>
          <p:cNvPicPr/>
          <p:nvPr/>
        </p:nvPicPr>
        <p:blipFill>
          <a:blip r:embed="rId1"/>
          <a:stretch/>
        </p:blipFill>
        <p:spPr>
          <a:xfrm>
            <a:off x="1063080" y="2846160"/>
            <a:ext cx="388440" cy="38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8"/>
          <p:cNvSpPr/>
          <p:nvPr/>
        </p:nvSpPr>
        <p:spPr>
          <a:xfrm>
            <a:off x="2880360" y="2606040"/>
            <a:ext cx="959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100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822960" y="3429000"/>
            <a:ext cx="2925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Banco de Armazenamento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822960" y="4041720"/>
            <a:ext cx="29257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Cilindros de baixa, média e alta pressão. Válvulas de corte, alívio e seleção em cascata.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1"/>
          <p:cNvSpPr/>
          <p:nvPr/>
        </p:nvSpPr>
        <p:spPr>
          <a:xfrm>
            <a:off x="822960" y="5532120"/>
            <a:ext cx="2926080" cy="360"/>
          </a:xfrm>
          <a:prstGeom prst="line">
            <a:avLst/>
          </a:prstGeom>
          <a:ln w="12700">
            <a:solidFill>
              <a:srgbClr val="DCE3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822960" y="56235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C7293"/>
                </a:solidFill>
                <a:effectLst/>
                <a:uFillTx/>
                <a:latin typeface="Courier New"/>
                <a:ea typeface="Courier New"/>
              </a:rPr>
              <a:t>PT · TT · AT · XV · PSV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3"/>
          <p:cNvSpPr/>
          <p:nvPr/>
        </p:nvSpPr>
        <p:spPr>
          <a:xfrm>
            <a:off x="4279320" y="2331720"/>
            <a:ext cx="3474360" cy="3794400"/>
          </a:xfrm>
          <a:prstGeom prst="roundRect">
            <a:avLst>
              <a:gd name="adj" fmla="val 3158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4"/>
          <p:cNvSpPr/>
          <p:nvPr/>
        </p:nvSpPr>
        <p:spPr>
          <a:xfrm>
            <a:off x="4279320" y="2331720"/>
            <a:ext cx="3474360" cy="72720"/>
          </a:xfrm>
          <a:prstGeom prst="rect">
            <a:avLst/>
          </a:prstGeom>
          <a:solidFill>
            <a:srgbClr val="2E9C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5"/>
          <p:cNvSpPr/>
          <p:nvPr/>
        </p:nvSpPr>
        <p:spPr>
          <a:xfrm>
            <a:off x="4599360" y="2651760"/>
            <a:ext cx="776880" cy="776880"/>
          </a:xfrm>
          <a:prstGeom prst="ellipse">
            <a:avLst/>
          </a:prstGeom>
          <a:solidFill>
            <a:srgbClr val="2E9C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1" descr="/home/claude/deck/icons/snow.png"/>
          <p:cNvPicPr/>
          <p:nvPr/>
        </p:nvPicPr>
        <p:blipFill>
          <a:blip r:embed="rId2"/>
          <a:stretch/>
        </p:blipFill>
        <p:spPr>
          <a:xfrm>
            <a:off x="4793760" y="2846160"/>
            <a:ext cx="388440" cy="38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16"/>
          <p:cNvSpPr/>
          <p:nvPr/>
        </p:nvSpPr>
        <p:spPr>
          <a:xfrm>
            <a:off x="6611040" y="2606040"/>
            <a:ext cx="959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E9CCA"/>
                </a:solidFill>
                <a:effectLst/>
                <a:uFillTx/>
                <a:latin typeface="Cambria"/>
                <a:ea typeface="Cambria"/>
              </a:rPr>
              <a:t>200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7"/>
          <p:cNvSpPr/>
          <p:nvPr/>
        </p:nvSpPr>
        <p:spPr>
          <a:xfrm>
            <a:off x="4553640" y="3429000"/>
            <a:ext cx="2925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Condicionamento (Chiller)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8"/>
          <p:cNvSpPr/>
          <p:nvPr/>
        </p:nvSpPr>
        <p:spPr>
          <a:xfrm>
            <a:off x="4553640" y="4041720"/>
            <a:ext cx="29257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Pré-resfriamento do H₂ a ≤ −40 °C conforme SAE J2601, garantindo a temperatura de dispensação.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9"/>
          <p:cNvSpPr/>
          <p:nvPr/>
        </p:nvSpPr>
        <p:spPr>
          <a:xfrm>
            <a:off x="4553640" y="5532120"/>
            <a:ext cx="2926080" cy="360"/>
          </a:xfrm>
          <a:prstGeom prst="line">
            <a:avLst/>
          </a:prstGeom>
          <a:ln w="12700">
            <a:solidFill>
              <a:srgbClr val="DCE3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0"/>
          <p:cNvSpPr/>
          <p:nvPr/>
        </p:nvSpPr>
        <p:spPr>
          <a:xfrm>
            <a:off x="4553640" y="56235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E9CCA"/>
                </a:solidFill>
                <a:effectLst/>
                <a:uFillTx/>
                <a:latin typeface="Courier New"/>
                <a:ea typeface="Courier New"/>
              </a:rPr>
              <a:t>TT-201 · PT-201 · M-201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1"/>
          <p:cNvSpPr/>
          <p:nvPr/>
        </p:nvSpPr>
        <p:spPr>
          <a:xfrm>
            <a:off x="8010000" y="2331720"/>
            <a:ext cx="3474360" cy="3794400"/>
          </a:xfrm>
          <a:prstGeom prst="roundRect">
            <a:avLst>
              <a:gd name="adj" fmla="val 3158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2"/>
          <p:cNvSpPr/>
          <p:nvPr/>
        </p:nvSpPr>
        <p:spPr>
          <a:xfrm>
            <a:off x="8010000" y="2331720"/>
            <a:ext cx="3474360" cy="72720"/>
          </a:xfrm>
          <a:prstGeom prst="rect">
            <a:avLst/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3"/>
          <p:cNvSpPr/>
          <p:nvPr/>
        </p:nvSpPr>
        <p:spPr>
          <a:xfrm>
            <a:off x="8330040" y="2651760"/>
            <a:ext cx="776880" cy="776880"/>
          </a:xfrm>
          <a:prstGeom prst="ellipse">
            <a:avLst/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" name="Image 2" descr="/home/claude/deck/icons/pump.png"/>
          <p:cNvPicPr/>
          <p:nvPr/>
        </p:nvPicPr>
        <p:blipFill>
          <a:blip r:embed="rId3"/>
          <a:stretch/>
        </p:blipFill>
        <p:spPr>
          <a:xfrm>
            <a:off x="8524440" y="2846160"/>
            <a:ext cx="388440" cy="38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24"/>
          <p:cNvSpPr/>
          <p:nvPr/>
        </p:nvSpPr>
        <p:spPr>
          <a:xfrm>
            <a:off x="10341720" y="2606040"/>
            <a:ext cx="959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8622C"/>
                </a:solidFill>
                <a:effectLst/>
                <a:uFillTx/>
                <a:latin typeface="Cambria"/>
                <a:ea typeface="Cambria"/>
              </a:rPr>
              <a:t>300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5"/>
          <p:cNvSpPr/>
          <p:nvPr/>
        </p:nvSpPr>
        <p:spPr>
          <a:xfrm>
            <a:off x="8284320" y="3429000"/>
            <a:ext cx="2925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Dispensador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6"/>
          <p:cNvSpPr/>
          <p:nvPr/>
        </p:nvSpPr>
        <p:spPr>
          <a:xfrm>
            <a:off x="8284320" y="4041720"/>
            <a:ext cx="29257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Comunicação com o veículo (J2799), acoplamento breakaway e válvula de dispensação.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7"/>
          <p:cNvSpPr/>
          <p:nvPr/>
        </p:nvSpPr>
        <p:spPr>
          <a:xfrm>
            <a:off x="8284320" y="5532120"/>
            <a:ext cx="2926080" cy="360"/>
          </a:xfrm>
          <a:prstGeom prst="line">
            <a:avLst/>
          </a:prstGeom>
          <a:ln w="12700">
            <a:solidFill>
              <a:srgbClr val="DCE3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8"/>
          <p:cNvSpPr/>
          <p:nvPr/>
        </p:nvSpPr>
        <p:spPr>
          <a:xfrm>
            <a:off x="8284320" y="56235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E8622C"/>
                </a:solidFill>
                <a:effectLst/>
                <a:uFillTx/>
                <a:latin typeface="Courier New"/>
                <a:ea typeface="Courier New"/>
              </a:rPr>
              <a:t>HS · COM · BV · XV-301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"/>
          <p:cNvSpPr/>
          <p:nvPr/>
        </p:nvSpPr>
        <p:spPr>
          <a:xfrm>
            <a:off x="0" y="5074920"/>
            <a:ext cx="12191400" cy="4068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502920" y="1554480"/>
            <a:ext cx="54860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100</a:t>
            </a:r>
            <a:endParaRPr lang="pt-BR" sz="1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594360" y="397764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3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SETOR 100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567000" y="434340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Armazenamento</a:t>
            </a:r>
            <a:endParaRPr lang="pt-B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594360" y="525780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FB4C6"/>
                </a:solidFill>
                <a:effectLst/>
                <a:uFillTx/>
                <a:latin typeface="Calibri"/>
                <a:ea typeface="Calibri"/>
              </a:rPr>
              <a:t>Banco de cilindros de alta pressão, válvulas de corte e alívio, e a lógica de trip de emergência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6"/>
          <p:cNvSpPr/>
          <p:nvPr/>
        </p:nvSpPr>
        <p:spPr>
          <a:xfrm>
            <a:off x="9692640" y="2331720"/>
            <a:ext cx="1737000" cy="17370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0" descr="/home/claude/deck/icons/tank.png"/>
          <p:cNvPicPr/>
          <p:nvPr/>
        </p:nvPicPr>
        <p:blipFill>
          <a:blip r:embed="rId1"/>
          <a:stretch/>
        </p:blipFill>
        <p:spPr>
          <a:xfrm>
            <a:off x="10127160" y="2766240"/>
            <a:ext cx="868320" cy="86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7"/>
          <p:cNvSpPr/>
          <p:nvPr/>
        </p:nvSpPr>
        <p:spPr>
          <a:xfrm>
            <a:off x="1152144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A3B5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548640" y="457200"/>
            <a:ext cx="1416960" cy="3286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548640" y="457200"/>
            <a:ext cx="141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SETOR 100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548640" y="9144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Instrumentação e variáveis lógicas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54864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9AA9B5"/>
                </a:solidFill>
                <a:effectLst/>
                <a:uFillTx/>
                <a:latin typeface="Calibri"/>
                <a:ea typeface="Calibri"/>
              </a:rPr>
              <a:t>ESTAÇÃO DE REABASTECIMENTO DE HIDROGÊNIO  ·  SCADA-CORE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1152144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548640" y="169164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Três bancos em cascata — baixa, média e alta pressão — cada um com o mesmo padrão de sensores e proposições lógicas, indexado por X ∈ {1, 2, 3}.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0" name="Table 0"/>
          <p:cNvGraphicFramePr/>
          <p:nvPr/>
        </p:nvGraphicFramePr>
        <p:xfrm>
          <a:off x="548640" y="2331720"/>
          <a:ext cx="11063880" cy="2267280"/>
        </p:xfrm>
        <a:graphic>
          <a:graphicData uri="http://schemas.openxmlformats.org/drawingml/2006/table">
            <a:tbl>
              <a:tblPr/>
              <a:tblGrid>
                <a:gridCol w="1417320"/>
                <a:gridCol w="2606040"/>
                <a:gridCol w="2606040"/>
                <a:gridCol w="2148840"/>
                <a:gridCol w="2286000"/>
              </a:tblGrid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Tanque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Pressão de segurança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Pressão de operação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Temperatura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Vazamento / Válvulas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1C7293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Baixa (1)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44559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PT-101  P&gt;400 bar → p₁,₁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44559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PT-104  P&gt;350 bar → p₁,₄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44559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TT-101  T&gt;85°C → t₁,₁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44559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AT-101 → g₁,₁  ·  XV-101 → v₁,₁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Média (2)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44559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PT-102  P&gt;700 bar → p₁,₂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44559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PT-105  P&gt;650 bar → p₁,₅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44559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TT-102  T&gt;85°C → t₁,₂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44559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AT-102 → g₁,₂  ·  XV-102 → v₁,₂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Alta (3)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44559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PT-103  P&gt;1000 bar → p₁,₃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44559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PT-106  P&gt;950 bar → p₁,₆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44559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TT-103  T&gt;85°C → t₁,₃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44559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AT-103 → g₁,₃  ·  XV-103 → v₁,₃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" name="Text 6"/>
          <p:cNvSpPr/>
          <p:nvPr/>
        </p:nvSpPr>
        <p:spPr>
          <a:xfrm>
            <a:off x="548640" y="50749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1272D"/>
                </a:solidFill>
                <a:effectLst/>
                <a:uFillTx/>
                <a:latin typeface="Courier New"/>
                <a:ea typeface="Courier New"/>
              </a:rPr>
              <a:t>Segurança geral:  </a:t>
            </a:r>
            <a:r>
              <a:rPr lang="en-US" sz="1200" b="0" u="none" strike="noStrike">
                <a:solidFill>
                  <a:srgbClr val="1B2A3D"/>
                </a:solidFill>
                <a:effectLst/>
                <a:uFillTx/>
                <a:latin typeface="Courier New"/>
                <a:ea typeface="Courier New"/>
              </a:rPr>
              <a:t>ESD-100 → e₁,₁  (parada de emergência manual, atua sobre os três tanques)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548640" y="553212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Saídas: </a:t>
            </a:r>
            <a:r>
              <a:rPr lang="en-US" sz="12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válvulas v₁,X (XV-10X), seletora v₁,₄ (XV-104, YV-104A/B), sinalizadores s₁,X (SL-10X) e alarme geral a₁,₁ (ALM-101).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548640" y="457200"/>
            <a:ext cx="1416960" cy="3286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548640" y="457200"/>
            <a:ext cx="141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SETOR 100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548640" y="9144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Lógica de intertravamento (trip)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54864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9AA9B5"/>
                </a:solidFill>
                <a:effectLst/>
                <a:uFillTx/>
                <a:latin typeface="Calibri"/>
                <a:ea typeface="Calibri"/>
              </a:rPr>
              <a:t>ESTAÇÃO DE REABASTECIMENTO DE HIDROGÊNIO  ·  SCADA-CORE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1152144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548640" y="1691640"/>
            <a:ext cx="6126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Qualquer sobrepressão, sobretemperatura, vazamento ou emergência manual dispara o fechamento imediato da válvula do tanque, acende a sinalização e ativa o alarme geral.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6"/>
          <p:cNvSpPr/>
          <p:nvPr/>
        </p:nvSpPr>
        <p:spPr>
          <a:xfrm>
            <a:off x="548640" y="2651760"/>
            <a:ext cx="6126120" cy="182844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7"/>
          <p:cNvSpPr/>
          <p:nvPr/>
        </p:nvSpPr>
        <p:spPr>
          <a:xfrm>
            <a:off x="822960" y="28162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CONDIÇÃO DE FALHA (F₁,ₓ)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8"/>
          <p:cNvSpPr/>
          <p:nvPr/>
        </p:nvSpPr>
        <p:spPr>
          <a:xfrm>
            <a:off x="822960" y="3090600"/>
            <a:ext cx="5668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1272D"/>
                </a:solidFill>
                <a:effectLst/>
                <a:uFillTx/>
                <a:latin typeface="Courier New"/>
                <a:ea typeface="Courier New"/>
              </a:rPr>
              <a:t>F₁,ₓ ≡ p₁,ₓ ∨ t₁,ₓ ∨ g₁,ₓ ∨ e₁,₁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822960" y="3611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REGRA DE INTERTRAVAMENTO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0"/>
          <p:cNvSpPr/>
          <p:nvPr/>
        </p:nvSpPr>
        <p:spPr>
          <a:xfrm>
            <a:off x="822960" y="3886200"/>
            <a:ext cx="5668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A3D"/>
                </a:solidFill>
                <a:effectLst/>
                <a:uFillTx/>
                <a:latin typeface="Courier New"/>
                <a:ea typeface="Courier New"/>
              </a:rPr>
              <a:t>F₁,ₓ  →  (¬v₁,ₓ ∧ s₁,ₓ ∧ a₁,₁)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1"/>
          <p:cNvSpPr/>
          <p:nvPr/>
        </p:nvSpPr>
        <p:spPr>
          <a:xfrm>
            <a:off x="548640" y="4617720"/>
            <a:ext cx="612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A válvula de alívio (PSV-10X) atua isoladamente em caso de sobrepressão:  p₁,ₓ → r₁,ₓ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2"/>
          <p:cNvSpPr/>
          <p:nvPr/>
        </p:nvSpPr>
        <p:spPr>
          <a:xfrm>
            <a:off x="548640" y="5257800"/>
            <a:ext cx="6126120" cy="959760"/>
          </a:xfrm>
          <a:prstGeom prst="roundRect">
            <a:avLst>
              <a:gd name="adj" fmla="val 9524"/>
            </a:avLst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3"/>
          <p:cNvSpPr/>
          <p:nvPr/>
        </p:nvSpPr>
        <p:spPr>
          <a:xfrm>
            <a:off x="777240" y="5440680"/>
            <a:ext cx="594000" cy="5940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0" descr="/home/claude/deck/icons/shield.png"/>
          <p:cNvPicPr/>
          <p:nvPr/>
        </p:nvPicPr>
        <p:blipFill>
          <a:blip r:embed="rId1"/>
          <a:stretch/>
        </p:blipFill>
        <p:spPr>
          <a:xfrm>
            <a:off x="910800" y="5574240"/>
            <a:ext cx="326520" cy="32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14"/>
          <p:cNvSpPr/>
          <p:nvPr/>
        </p:nvSpPr>
        <p:spPr>
          <a:xfrm>
            <a:off x="1508760" y="5349240"/>
            <a:ext cx="5028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3B23C"/>
                </a:solidFill>
                <a:effectLst/>
                <a:uFillTx/>
                <a:latin typeface="Calibri"/>
                <a:ea typeface="Calibri"/>
              </a:rPr>
              <a:t>Prova formal: </a:t>
            </a:r>
            <a:r>
              <a:rPr lang="en-US" sz="1200" b="0" u="none" strike="noStrike">
                <a:solidFill>
                  <a:srgbClr val="E4ECF2"/>
                </a:solidFill>
                <a:effectLst/>
                <a:uFillTx/>
                <a:latin typeface="Calibri"/>
                <a:ea typeface="Calibri"/>
              </a:rPr>
              <a:t>p₁,ₓ ∧ v₁,ₓ é uma contradição — o SCADA-Core nunca permite sobrepressão com a válvula aberta.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5"/>
          <p:cNvSpPr/>
          <p:nvPr/>
        </p:nvSpPr>
        <p:spPr>
          <a:xfrm>
            <a:off x="7040880" y="1691640"/>
            <a:ext cx="4571640" cy="4525920"/>
          </a:xfrm>
          <a:prstGeom prst="roundRect">
            <a:avLst>
              <a:gd name="adj" fmla="val 2424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6"/>
          <p:cNvSpPr/>
          <p:nvPr/>
        </p:nvSpPr>
        <p:spPr>
          <a:xfrm>
            <a:off x="7315200" y="18745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DIAGRAMA LÓGICO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7"/>
          <p:cNvSpPr/>
          <p:nvPr/>
        </p:nvSpPr>
        <p:spPr>
          <a:xfrm>
            <a:off x="7315200" y="2286000"/>
            <a:ext cx="2331360" cy="420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127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8"/>
          <p:cNvSpPr/>
          <p:nvPr/>
        </p:nvSpPr>
        <p:spPr>
          <a:xfrm>
            <a:off x="7315200" y="2286000"/>
            <a:ext cx="2331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Sobrepressão (p₁,ₓ)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9"/>
          <p:cNvSpPr/>
          <p:nvPr/>
        </p:nvSpPr>
        <p:spPr>
          <a:xfrm>
            <a:off x="9646920" y="2496240"/>
            <a:ext cx="502920" cy="360"/>
          </a:xfrm>
          <a:prstGeom prst="line">
            <a:avLst/>
          </a:prstGeom>
          <a:ln w="15875">
            <a:solidFill>
              <a:srgbClr val="5B6B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0"/>
          <p:cNvSpPr/>
          <p:nvPr/>
        </p:nvSpPr>
        <p:spPr>
          <a:xfrm>
            <a:off x="7315200" y="2853000"/>
            <a:ext cx="2331360" cy="420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127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1"/>
          <p:cNvSpPr/>
          <p:nvPr/>
        </p:nvSpPr>
        <p:spPr>
          <a:xfrm>
            <a:off x="7315200" y="2853000"/>
            <a:ext cx="2331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Sobretemperatura (t₁,ₓ)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2"/>
          <p:cNvSpPr/>
          <p:nvPr/>
        </p:nvSpPr>
        <p:spPr>
          <a:xfrm>
            <a:off x="9646920" y="3063240"/>
            <a:ext cx="502920" cy="360"/>
          </a:xfrm>
          <a:prstGeom prst="line">
            <a:avLst/>
          </a:prstGeom>
          <a:ln w="15875">
            <a:solidFill>
              <a:srgbClr val="5B6B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3"/>
          <p:cNvSpPr/>
          <p:nvPr/>
        </p:nvSpPr>
        <p:spPr>
          <a:xfrm>
            <a:off x="7315200" y="3420000"/>
            <a:ext cx="2331360" cy="420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127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4"/>
          <p:cNvSpPr/>
          <p:nvPr/>
        </p:nvSpPr>
        <p:spPr>
          <a:xfrm>
            <a:off x="7315200" y="3420000"/>
            <a:ext cx="2331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Vazamento H₂ (g₁,ₓ)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5"/>
          <p:cNvSpPr/>
          <p:nvPr/>
        </p:nvSpPr>
        <p:spPr>
          <a:xfrm>
            <a:off x="9646920" y="3629880"/>
            <a:ext cx="502920" cy="360"/>
          </a:xfrm>
          <a:prstGeom prst="line">
            <a:avLst/>
          </a:prstGeom>
          <a:ln w="15875">
            <a:solidFill>
              <a:srgbClr val="5B6B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6"/>
          <p:cNvSpPr/>
          <p:nvPr/>
        </p:nvSpPr>
        <p:spPr>
          <a:xfrm>
            <a:off x="7315200" y="3986640"/>
            <a:ext cx="2331360" cy="420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127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7"/>
          <p:cNvSpPr/>
          <p:nvPr/>
        </p:nvSpPr>
        <p:spPr>
          <a:xfrm>
            <a:off x="7315200" y="3986640"/>
            <a:ext cx="2331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Emergência (e₁,₁)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8"/>
          <p:cNvSpPr/>
          <p:nvPr/>
        </p:nvSpPr>
        <p:spPr>
          <a:xfrm>
            <a:off x="9646920" y="4196880"/>
            <a:ext cx="502920" cy="360"/>
          </a:xfrm>
          <a:prstGeom prst="line">
            <a:avLst/>
          </a:prstGeom>
          <a:ln w="15875">
            <a:solidFill>
              <a:srgbClr val="5B6B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9"/>
          <p:cNvSpPr/>
          <p:nvPr/>
        </p:nvSpPr>
        <p:spPr>
          <a:xfrm>
            <a:off x="10149840" y="2423160"/>
            <a:ext cx="731160" cy="1874160"/>
          </a:xfrm>
          <a:prstGeom prst="roundRect">
            <a:avLst>
              <a:gd name="adj" fmla="val 50000"/>
            </a:avLst>
          </a:prstGeom>
          <a:solidFill>
            <a:srgbClr val="C127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0"/>
          <p:cNvSpPr/>
          <p:nvPr/>
        </p:nvSpPr>
        <p:spPr>
          <a:xfrm>
            <a:off x="10149840" y="2423160"/>
            <a:ext cx="73116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OR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31"/>
          <p:cNvSpPr/>
          <p:nvPr/>
        </p:nvSpPr>
        <p:spPr>
          <a:xfrm>
            <a:off x="10881360" y="3355560"/>
            <a:ext cx="457200" cy="360"/>
          </a:xfrm>
          <a:prstGeom prst="line">
            <a:avLst/>
          </a:prstGeom>
          <a:ln w="15875">
            <a:solidFill>
              <a:srgbClr val="5B6B7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2"/>
          <p:cNvSpPr/>
          <p:nvPr/>
        </p:nvSpPr>
        <p:spPr>
          <a:xfrm>
            <a:off x="10378440" y="4617720"/>
            <a:ext cx="959760" cy="456840"/>
          </a:xfrm>
          <a:prstGeom prst="roundRect">
            <a:avLst>
              <a:gd name="adj" fmla="val 12000"/>
            </a:avLst>
          </a:prstGeom>
          <a:solidFill>
            <a:srgbClr val="C127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3"/>
          <p:cNvSpPr/>
          <p:nvPr/>
        </p:nvSpPr>
        <p:spPr>
          <a:xfrm>
            <a:off x="10378440" y="4617720"/>
            <a:ext cx="959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TRIP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4"/>
          <p:cNvSpPr/>
          <p:nvPr/>
        </p:nvSpPr>
        <p:spPr>
          <a:xfrm>
            <a:off x="7315200" y="534924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Fecha v₁,ₓ  ·  Acende s₁,ₓ  ·  Ativa a₁,₁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548640" y="457200"/>
            <a:ext cx="1416960" cy="3286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548640" y="457200"/>
            <a:ext cx="141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SETOR 100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548640" y="9144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Sequência de abastecimento em cascata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54864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9AA9B5"/>
                </a:solidFill>
                <a:effectLst/>
                <a:uFillTx/>
                <a:latin typeface="Calibri"/>
                <a:ea typeface="Calibri"/>
              </a:rPr>
              <a:t>ESTAÇÃO DE REABASTECIMENTO DE HIDROGÊNIO  ·  SCADA-CORE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1152144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548640" y="169164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O enchimento segue a ordem Tanque 3 → Tanque 2 → Tanque 1, comandada pelos sensores de setpoint (PT-104/105/106), evitando sobreposição de válvulas abertas.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6"/>
          <p:cNvSpPr/>
          <p:nvPr/>
        </p:nvSpPr>
        <p:spPr>
          <a:xfrm>
            <a:off x="548640" y="2423160"/>
            <a:ext cx="3474360" cy="3565800"/>
          </a:xfrm>
          <a:prstGeom prst="roundRect">
            <a:avLst>
              <a:gd name="adj" fmla="val 3158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7"/>
          <p:cNvSpPr/>
          <p:nvPr/>
        </p:nvSpPr>
        <p:spPr>
          <a:xfrm>
            <a:off x="822960" y="2697480"/>
            <a:ext cx="50256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822960" y="26974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1463040" y="272484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PASSO 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822960" y="338328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CONDIÇÃO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822960" y="361188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A3D"/>
                </a:solidFill>
                <a:effectLst/>
                <a:uFillTx/>
                <a:latin typeface="Courier New"/>
                <a:ea typeface="Courier New"/>
              </a:rPr>
              <a:t>¬p₁,₆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2"/>
          <p:cNvSpPr/>
          <p:nvPr/>
        </p:nvSpPr>
        <p:spPr>
          <a:xfrm>
            <a:off x="822960" y="411480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VÁLVULAS RESULTANTES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822960" y="434340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ourier New"/>
                <a:ea typeface="Courier New"/>
              </a:rPr>
              <a:t>v₁,₃ ∧ ¬v₁,₂ ∧ ¬v₁,₁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4"/>
          <p:cNvSpPr/>
          <p:nvPr/>
        </p:nvSpPr>
        <p:spPr>
          <a:xfrm>
            <a:off x="822960" y="5029200"/>
            <a:ext cx="2926080" cy="360"/>
          </a:xfrm>
          <a:prstGeom prst="line">
            <a:avLst/>
          </a:prstGeom>
          <a:ln w="12700">
            <a:solidFill>
              <a:srgbClr val="DCE3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5"/>
          <p:cNvSpPr/>
          <p:nvPr/>
        </p:nvSpPr>
        <p:spPr>
          <a:xfrm>
            <a:off x="822960" y="5166360"/>
            <a:ext cx="292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Alta pressão ainda não atingiu o setpoint → abastece o Tanque 3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7"/>
          <p:cNvSpPr/>
          <p:nvPr/>
        </p:nvSpPr>
        <p:spPr>
          <a:xfrm>
            <a:off x="4279320" y="2423160"/>
            <a:ext cx="3474360" cy="3565800"/>
          </a:xfrm>
          <a:prstGeom prst="roundRect">
            <a:avLst>
              <a:gd name="adj" fmla="val 3158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6"/>
          <p:cNvSpPr/>
          <p:nvPr/>
        </p:nvSpPr>
        <p:spPr>
          <a:xfrm>
            <a:off x="3881520" y="4061520"/>
            <a:ext cx="438480" cy="4384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8"/>
          <p:cNvSpPr/>
          <p:nvPr/>
        </p:nvSpPr>
        <p:spPr>
          <a:xfrm>
            <a:off x="4553640" y="2697480"/>
            <a:ext cx="50256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9"/>
          <p:cNvSpPr/>
          <p:nvPr/>
        </p:nvSpPr>
        <p:spPr>
          <a:xfrm>
            <a:off x="4553640" y="26974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0"/>
          <p:cNvSpPr/>
          <p:nvPr/>
        </p:nvSpPr>
        <p:spPr>
          <a:xfrm>
            <a:off x="5193720" y="272484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PASSO 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1"/>
          <p:cNvSpPr/>
          <p:nvPr/>
        </p:nvSpPr>
        <p:spPr>
          <a:xfrm>
            <a:off x="4553640" y="338328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CONDIÇÃO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2"/>
          <p:cNvSpPr/>
          <p:nvPr/>
        </p:nvSpPr>
        <p:spPr>
          <a:xfrm>
            <a:off x="4553640" y="361188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A3D"/>
                </a:solidFill>
                <a:effectLst/>
                <a:uFillTx/>
                <a:latin typeface="Courier New"/>
                <a:ea typeface="Courier New"/>
              </a:rPr>
              <a:t>p₁,₆ ∧ ¬p₁,₅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3"/>
          <p:cNvSpPr/>
          <p:nvPr/>
        </p:nvSpPr>
        <p:spPr>
          <a:xfrm>
            <a:off x="4553640" y="411480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VÁLVULAS RESULTANTES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4"/>
          <p:cNvSpPr/>
          <p:nvPr/>
        </p:nvSpPr>
        <p:spPr>
          <a:xfrm>
            <a:off x="4553640" y="434340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ourier New"/>
                <a:ea typeface="Courier New"/>
              </a:rPr>
              <a:t>¬v₁,₃ ∧ v₁,₂ ∧ ¬v₁,₁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5"/>
          <p:cNvSpPr/>
          <p:nvPr/>
        </p:nvSpPr>
        <p:spPr>
          <a:xfrm>
            <a:off x="4553640" y="5029200"/>
            <a:ext cx="2926080" cy="360"/>
          </a:xfrm>
          <a:prstGeom prst="line">
            <a:avLst/>
          </a:prstGeom>
          <a:ln w="12700">
            <a:solidFill>
              <a:srgbClr val="DCE3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6"/>
          <p:cNvSpPr/>
          <p:nvPr/>
        </p:nvSpPr>
        <p:spPr>
          <a:xfrm>
            <a:off x="4553640" y="5166360"/>
            <a:ext cx="292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Alta pronto, média ainda não → abastece o Tanque 2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8"/>
          <p:cNvSpPr/>
          <p:nvPr/>
        </p:nvSpPr>
        <p:spPr>
          <a:xfrm>
            <a:off x="8010000" y="2423160"/>
            <a:ext cx="3474360" cy="3565800"/>
          </a:xfrm>
          <a:prstGeom prst="roundRect">
            <a:avLst>
              <a:gd name="adj" fmla="val 3158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7"/>
          <p:cNvSpPr/>
          <p:nvPr/>
        </p:nvSpPr>
        <p:spPr>
          <a:xfrm>
            <a:off x="7628760" y="4026600"/>
            <a:ext cx="438480" cy="4384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9"/>
          <p:cNvSpPr/>
          <p:nvPr/>
        </p:nvSpPr>
        <p:spPr>
          <a:xfrm>
            <a:off x="8284320" y="2697480"/>
            <a:ext cx="502560" cy="5025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0"/>
          <p:cNvSpPr/>
          <p:nvPr/>
        </p:nvSpPr>
        <p:spPr>
          <a:xfrm>
            <a:off x="8284320" y="26974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1"/>
          <p:cNvSpPr/>
          <p:nvPr/>
        </p:nvSpPr>
        <p:spPr>
          <a:xfrm>
            <a:off x="8924400" y="272484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PASSO 3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2"/>
          <p:cNvSpPr/>
          <p:nvPr/>
        </p:nvSpPr>
        <p:spPr>
          <a:xfrm>
            <a:off x="8284320" y="338328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CONDIÇÃO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3"/>
          <p:cNvSpPr/>
          <p:nvPr/>
        </p:nvSpPr>
        <p:spPr>
          <a:xfrm>
            <a:off x="8284320" y="361188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A3D"/>
                </a:solidFill>
                <a:effectLst/>
                <a:uFillTx/>
                <a:latin typeface="Courier New"/>
                <a:ea typeface="Courier New"/>
              </a:rPr>
              <a:t>p₁,₆ ∧ p₁,₅ ∧ ¬p₁,₄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4"/>
          <p:cNvSpPr/>
          <p:nvPr/>
        </p:nvSpPr>
        <p:spPr>
          <a:xfrm>
            <a:off x="8284320" y="411480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VÁLVULAS RESULTANTES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5"/>
          <p:cNvSpPr/>
          <p:nvPr/>
        </p:nvSpPr>
        <p:spPr>
          <a:xfrm>
            <a:off x="8284320" y="434340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7293"/>
                </a:solidFill>
                <a:effectLst/>
                <a:uFillTx/>
                <a:latin typeface="Courier New"/>
                <a:ea typeface="Courier New"/>
              </a:rPr>
              <a:t>¬v₁,₃ ∧ ¬v₁,₂ ∧ v₁,₁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36"/>
          <p:cNvSpPr/>
          <p:nvPr/>
        </p:nvSpPr>
        <p:spPr>
          <a:xfrm>
            <a:off x="8284320" y="5029200"/>
            <a:ext cx="2926080" cy="360"/>
          </a:xfrm>
          <a:prstGeom prst="line">
            <a:avLst/>
          </a:prstGeom>
          <a:ln w="12700">
            <a:solidFill>
              <a:srgbClr val="DCE3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7"/>
          <p:cNvSpPr/>
          <p:nvPr/>
        </p:nvSpPr>
        <p:spPr>
          <a:xfrm>
            <a:off x="8284320" y="5166360"/>
            <a:ext cx="292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Alta e média prontos → abastece o Tanque 1 (baixa)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7" name="Image 0" descr="/home/claude/deck/icons/arrowright.png"/>
          <p:cNvPicPr/>
          <p:nvPr/>
        </p:nvPicPr>
        <p:blipFill>
          <a:blip r:embed="rId1"/>
          <a:stretch/>
        </p:blipFill>
        <p:spPr>
          <a:xfrm>
            <a:off x="3999960" y="414972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Image 1" descr="/home/claude/deck/icons/arrowright.png"/>
          <p:cNvPicPr/>
          <p:nvPr/>
        </p:nvPicPr>
        <p:blipFill>
          <a:blip r:embed="rId2"/>
          <a:stretch/>
        </p:blipFill>
        <p:spPr>
          <a:xfrm>
            <a:off x="7753680" y="4140000"/>
            <a:ext cx="237240" cy="23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"/>
          <p:cNvSpPr/>
          <p:nvPr/>
        </p:nvSpPr>
        <p:spPr>
          <a:xfrm>
            <a:off x="0" y="5074920"/>
            <a:ext cx="12191400" cy="40680"/>
          </a:xfrm>
          <a:prstGeom prst="rect">
            <a:avLst/>
          </a:prstGeom>
          <a:solidFill>
            <a:srgbClr val="2E9C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"/>
          <p:cNvSpPr/>
          <p:nvPr/>
        </p:nvSpPr>
        <p:spPr>
          <a:xfrm>
            <a:off x="502920" y="1554480"/>
            <a:ext cx="54860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0" b="1" u="none" strike="noStrike">
                <a:solidFill>
                  <a:srgbClr val="2E9CCA"/>
                </a:solidFill>
                <a:effectLst/>
                <a:uFillTx/>
                <a:latin typeface="Cambria"/>
                <a:ea typeface="Cambria"/>
              </a:rPr>
              <a:t>200</a:t>
            </a:r>
            <a:endParaRPr lang="pt-BR" sz="1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"/>
          <p:cNvSpPr/>
          <p:nvPr/>
        </p:nvSpPr>
        <p:spPr>
          <a:xfrm>
            <a:off x="594360" y="397764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3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SETOR 200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4"/>
          <p:cNvSpPr/>
          <p:nvPr/>
        </p:nvSpPr>
        <p:spPr>
          <a:xfrm>
            <a:off x="567000" y="434340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Condicionamento</a:t>
            </a:r>
            <a:endParaRPr lang="pt-B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5"/>
          <p:cNvSpPr/>
          <p:nvPr/>
        </p:nvSpPr>
        <p:spPr>
          <a:xfrm>
            <a:off x="594360" y="525780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FB4C6"/>
                </a:solidFill>
                <a:effectLst/>
                <a:uFillTx/>
                <a:latin typeface="Calibri"/>
                <a:ea typeface="Calibri"/>
              </a:rPr>
              <a:t>Pré-resfriamento do hidrogênio a −40 °C e controle do chiller antes da dispensação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6"/>
          <p:cNvSpPr/>
          <p:nvPr/>
        </p:nvSpPr>
        <p:spPr>
          <a:xfrm>
            <a:off x="9692640" y="2331720"/>
            <a:ext cx="1737000" cy="1737000"/>
          </a:xfrm>
          <a:prstGeom prst="ellipse">
            <a:avLst/>
          </a:prstGeom>
          <a:solidFill>
            <a:srgbClr val="2E9C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6" name="Image 0" descr="/home/claude/deck/icons/snow.png"/>
          <p:cNvPicPr/>
          <p:nvPr/>
        </p:nvPicPr>
        <p:blipFill>
          <a:blip r:embed="rId1"/>
          <a:stretch/>
        </p:blipFill>
        <p:spPr>
          <a:xfrm>
            <a:off x="10127160" y="2766240"/>
            <a:ext cx="868320" cy="86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7"/>
          <p:cNvSpPr/>
          <p:nvPr/>
        </p:nvSpPr>
        <p:spPr>
          <a:xfrm>
            <a:off x="1152144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A3B5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548640" y="457200"/>
            <a:ext cx="1416960" cy="328680"/>
          </a:xfrm>
          <a:prstGeom prst="roundRect">
            <a:avLst>
              <a:gd name="adj" fmla="val 50000"/>
            </a:avLst>
          </a:prstGeom>
          <a:solidFill>
            <a:srgbClr val="2E9C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548640" y="457200"/>
            <a:ext cx="141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SETOR 200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548640" y="9144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Condicionamento e resfriamento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54864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9AA9B5"/>
                </a:solidFill>
                <a:effectLst/>
                <a:uFillTx/>
                <a:latin typeface="Calibri"/>
                <a:ea typeface="Calibri"/>
              </a:rPr>
              <a:t>ESTAÇÃO DE REABASTECIMENTO DE HIDROGÊNIO  ·  SCADA-CORE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4"/>
          <p:cNvSpPr/>
          <p:nvPr/>
        </p:nvSpPr>
        <p:spPr>
          <a:xfrm>
            <a:off x="1152144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5"/>
          <p:cNvSpPr/>
          <p:nvPr/>
        </p:nvSpPr>
        <p:spPr>
          <a:xfrm>
            <a:off x="548640" y="1691640"/>
            <a:ext cx="58518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O menor setor da planta, mas crítico: garante que o H₂ chegue ao dispensador na temperatura exigida pela norma SAE J2601, evitando o superaquecimento do reservatório do veículo durante o enchimento rápido.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4" name="Table 0"/>
          <p:cNvGraphicFramePr/>
          <p:nvPr/>
        </p:nvGraphicFramePr>
        <p:xfrm>
          <a:off x="548640" y="2880360"/>
          <a:ext cx="5851800" cy="2286000"/>
        </p:xfrm>
        <a:graphic>
          <a:graphicData uri="http://schemas.openxmlformats.org/drawingml/2006/table">
            <a:tbl>
              <a:tblPr/>
              <a:tblGrid>
                <a:gridCol w="1188720"/>
                <a:gridCol w="2743200"/>
                <a:gridCol w="960120"/>
                <a:gridCol w="96012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Tag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2E9CC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Variável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2E9CC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Proposição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2E9CC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Condição</a:t>
                      </a:r>
                      <a:endParaRPr lang="pt-B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2E9CCA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TT-201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Temp. de saída do pré-resfriador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t₂,₁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T ≤ −40 °C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PT-201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Pressão do buffer de condicionamento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p₂,₁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Dentro da faixa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M-201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Contator do motor do chiller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m₂,₁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Ligado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XV-201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Válvula de entrada do chiller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v₂,₁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Aberta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185" name="Shape 6"/>
          <p:cNvSpPr/>
          <p:nvPr/>
        </p:nvSpPr>
        <p:spPr>
          <a:xfrm>
            <a:off x="6903720" y="1691640"/>
            <a:ext cx="4708800" cy="4525920"/>
          </a:xfrm>
          <a:prstGeom prst="roundRect">
            <a:avLst>
              <a:gd name="adj" fmla="val 2424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7"/>
          <p:cNvSpPr/>
          <p:nvPr/>
        </p:nvSpPr>
        <p:spPr>
          <a:xfrm>
            <a:off x="7178040" y="190188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LOOP DE CONTROLE DO CHILLER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8"/>
          <p:cNvSpPr/>
          <p:nvPr/>
        </p:nvSpPr>
        <p:spPr>
          <a:xfrm>
            <a:off x="7178040" y="2194560"/>
            <a:ext cx="4160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Enquanto a pressão e a temperatura do buffer não atingirem o adequado, o chiller permanece ligado acumulando condição para a dispensação.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9"/>
          <p:cNvSpPr/>
          <p:nvPr/>
        </p:nvSpPr>
        <p:spPr>
          <a:xfrm>
            <a:off x="7178040" y="3154680"/>
            <a:ext cx="456840" cy="456840"/>
          </a:xfrm>
          <a:prstGeom prst="ellipse">
            <a:avLst/>
          </a:prstGeom>
          <a:solidFill>
            <a:srgbClr val="2E9C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9" name="Image 0" descr="/home/claude/deck/icons/bolt.png"/>
          <p:cNvPicPr/>
          <p:nvPr/>
        </p:nvPicPr>
        <p:blipFill>
          <a:blip r:embed="rId1"/>
          <a:stretch/>
        </p:blipFill>
        <p:spPr>
          <a:xfrm>
            <a:off x="7281000" y="325764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 10"/>
          <p:cNvSpPr/>
          <p:nvPr/>
        </p:nvSpPr>
        <p:spPr>
          <a:xfrm>
            <a:off x="7772400" y="3127320"/>
            <a:ext cx="34286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Chiller M-201 LIGADO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1"/>
          <p:cNvSpPr/>
          <p:nvPr/>
        </p:nvSpPr>
        <p:spPr>
          <a:xfrm>
            <a:off x="7406640" y="3611880"/>
            <a:ext cx="360" cy="200880"/>
          </a:xfrm>
          <a:prstGeom prst="line">
            <a:avLst/>
          </a:prstGeom>
          <a:ln w="19050">
            <a:solidFill>
              <a:srgbClr val="2E9CC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2"/>
          <p:cNvSpPr/>
          <p:nvPr/>
        </p:nvSpPr>
        <p:spPr>
          <a:xfrm>
            <a:off x="7178040" y="3813120"/>
            <a:ext cx="456840" cy="456840"/>
          </a:xfrm>
          <a:prstGeom prst="ellipse">
            <a:avLst/>
          </a:prstGeom>
          <a:solidFill>
            <a:srgbClr val="2E9C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3" name="Image 1" descr="/home/claude/deck/icons/snow.png"/>
          <p:cNvPicPr/>
          <p:nvPr/>
        </p:nvPicPr>
        <p:blipFill>
          <a:blip r:embed="rId2"/>
          <a:stretch/>
        </p:blipFill>
        <p:spPr>
          <a:xfrm>
            <a:off x="7281000" y="391608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13"/>
          <p:cNvSpPr/>
          <p:nvPr/>
        </p:nvSpPr>
        <p:spPr>
          <a:xfrm>
            <a:off x="7772400" y="3785760"/>
            <a:ext cx="34286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Resfria H₂ até T ≤ −40 °C (t₂,₁)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4"/>
          <p:cNvSpPr/>
          <p:nvPr/>
        </p:nvSpPr>
        <p:spPr>
          <a:xfrm>
            <a:off x="7406640" y="4269960"/>
            <a:ext cx="360" cy="201240"/>
          </a:xfrm>
          <a:prstGeom prst="line">
            <a:avLst/>
          </a:prstGeom>
          <a:ln w="19050">
            <a:solidFill>
              <a:srgbClr val="2E9CC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5"/>
          <p:cNvSpPr/>
          <p:nvPr/>
        </p:nvSpPr>
        <p:spPr>
          <a:xfrm>
            <a:off x="7178040" y="4471560"/>
            <a:ext cx="456840" cy="456840"/>
          </a:xfrm>
          <a:prstGeom prst="ellipse">
            <a:avLst/>
          </a:prstGeom>
          <a:solidFill>
            <a:srgbClr val="2E9C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7" name="Image 2" descr="/home/claude/deck/icons/gauge.png"/>
          <p:cNvPicPr/>
          <p:nvPr/>
        </p:nvPicPr>
        <p:blipFill>
          <a:blip r:embed="rId3"/>
          <a:stretch/>
        </p:blipFill>
        <p:spPr>
          <a:xfrm>
            <a:off x="7281000" y="457416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Text 16"/>
          <p:cNvSpPr/>
          <p:nvPr/>
        </p:nvSpPr>
        <p:spPr>
          <a:xfrm>
            <a:off x="7772400" y="4443840"/>
            <a:ext cx="34286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Pressuriza buffer (p₂,₁)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7"/>
          <p:cNvSpPr/>
          <p:nvPr/>
        </p:nvSpPr>
        <p:spPr>
          <a:xfrm>
            <a:off x="7406640" y="4928400"/>
            <a:ext cx="360" cy="201240"/>
          </a:xfrm>
          <a:prstGeom prst="line">
            <a:avLst/>
          </a:prstGeom>
          <a:ln w="19050">
            <a:solidFill>
              <a:srgbClr val="2E9CC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8"/>
          <p:cNvSpPr/>
          <p:nvPr/>
        </p:nvSpPr>
        <p:spPr>
          <a:xfrm>
            <a:off x="7178040" y="5129640"/>
            <a:ext cx="456840" cy="456840"/>
          </a:xfrm>
          <a:prstGeom prst="ellipse">
            <a:avLst/>
          </a:prstGeom>
          <a:solidFill>
            <a:srgbClr val="2E9C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 3" descr="/home/claude/deck/icons/unlock.png"/>
          <p:cNvPicPr/>
          <p:nvPr/>
        </p:nvPicPr>
        <p:blipFill>
          <a:blip r:embed="rId4"/>
          <a:stretch/>
        </p:blipFill>
        <p:spPr>
          <a:xfrm>
            <a:off x="7281000" y="523260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Text 19"/>
          <p:cNvSpPr/>
          <p:nvPr/>
        </p:nvSpPr>
        <p:spPr>
          <a:xfrm>
            <a:off x="7772400" y="5102280"/>
            <a:ext cx="34286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XV-301 libera dispensação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0"/>
          <p:cNvSpPr/>
          <p:nvPr/>
        </p:nvSpPr>
        <p:spPr>
          <a:xfrm>
            <a:off x="7178040" y="580644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9CCA"/>
                </a:solidFill>
                <a:effectLst/>
                <a:uFillTx/>
                <a:latin typeface="Courier New"/>
                <a:ea typeface="Courier New"/>
              </a:rPr>
              <a:t>v₃,₁ → (p₂,₁ ∧ t₂,₁)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"/>
          <p:cNvSpPr/>
          <p:nvPr/>
        </p:nvSpPr>
        <p:spPr>
          <a:xfrm>
            <a:off x="0" y="5074920"/>
            <a:ext cx="12191400" cy="40680"/>
          </a:xfrm>
          <a:prstGeom prst="rect">
            <a:avLst/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"/>
          <p:cNvSpPr/>
          <p:nvPr/>
        </p:nvSpPr>
        <p:spPr>
          <a:xfrm>
            <a:off x="502920" y="1554480"/>
            <a:ext cx="54860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0" b="1" u="none" strike="noStrike">
                <a:solidFill>
                  <a:srgbClr val="E8622C"/>
                </a:solidFill>
                <a:effectLst/>
                <a:uFillTx/>
                <a:latin typeface="Cambria"/>
                <a:ea typeface="Cambria"/>
              </a:rPr>
              <a:t>300</a:t>
            </a:r>
            <a:endParaRPr lang="pt-BR" sz="1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"/>
          <p:cNvSpPr/>
          <p:nvPr/>
        </p:nvSpPr>
        <p:spPr>
          <a:xfrm>
            <a:off x="594360" y="397764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30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SETOR 300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4"/>
          <p:cNvSpPr/>
          <p:nvPr/>
        </p:nvSpPr>
        <p:spPr>
          <a:xfrm>
            <a:off x="567000" y="434340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Dispensação</a:t>
            </a:r>
            <a:endParaRPr lang="pt-B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5"/>
          <p:cNvSpPr/>
          <p:nvPr/>
        </p:nvSpPr>
        <p:spPr>
          <a:xfrm>
            <a:off x="594360" y="525780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FB4C6"/>
                </a:solidFill>
                <a:effectLst/>
                <a:uFillTx/>
                <a:latin typeface="Calibri"/>
                <a:ea typeface="Calibri"/>
              </a:rPr>
              <a:t>Comunicação com o veículo, acoplamento breakaway e o permissivo final de abastecimento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6"/>
          <p:cNvSpPr/>
          <p:nvPr/>
        </p:nvSpPr>
        <p:spPr>
          <a:xfrm>
            <a:off x="9692640" y="2331720"/>
            <a:ext cx="1737000" cy="1737000"/>
          </a:xfrm>
          <a:prstGeom prst="ellipse">
            <a:avLst/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1" name="Image 0" descr="/home/claude/deck/icons/pump.png"/>
          <p:cNvPicPr/>
          <p:nvPr/>
        </p:nvPicPr>
        <p:blipFill>
          <a:blip r:embed="rId1"/>
          <a:stretch/>
        </p:blipFill>
        <p:spPr>
          <a:xfrm>
            <a:off x="10127160" y="2766240"/>
            <a:ext cx="868320" cy="86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 7"/>
          <p:cNvSpPr/>
          <p:nvPr/>
        </p:nvSpPr>
        <p:spPr>
          <a:xfrm>
            <a:off x="1152144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A3B5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0"/>
          <p:cNvSpPr/>
          <p:nvPr/>
        </p:nvSpPr>
        <p:spPr>
          <a:xfrm>
            <a:off x="548640" y="457200"/>
            <a:ext cx="1416960" cy="32868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548640" y="457200"/>
            <a:ext cx="141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SETOR 300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"/>
          <p:cNvSpPr/>
          <p:nvPr/>
        </p:nvSpPr>
        <p:spPr>
          <a:xfrm>
            <a:off x="548640" y="9144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Instrumentação do dispensador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"/>
          <p:cNvSpPr/>
          <p:nvPr/>
        </p:nvSpPr>
        <p:spPr>
          <a:xfrm>
            <a:off x="54864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9AA9B5"/>
                </a:solidFill>
                <a:effectLst/>
                <a:uFillTx/>
                <a:latin typeface="Calibri"/>
                <a:ea typeface="Calibri"/>
              </a:rPr>
              <a:t>ESTAÇÃO DE REABASTECIMENTO DE HIDROGÊNIO  ·  SCADA-CORE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4"/>
          <p:cNvSpPr/>
          <p:nvPr/>
        </p:nvSpPr>
        <p:spPr>
          <a:xfrm>
            <a:off x="1152144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548640" y="169164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O ponto de contato final com o usuário: sete tags cobrem desde o comando do operador até a integridade mecânica do bico e a temperatura no receptáculo do veículo.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6"/>
          <p:cNvSpPr/>
          <p:nvPr/>
        </p:nvSpPr>
        <p:spPr>
          <a:xfrm>
            <a:off x="548640" y="2423160"/>
            <a:ext cx="5348880" cy="658080"/>
          </a:xfrm>
          <a:prstGeom prst="roundRect">
            <a:avLst>
              <a:gd name="adj" fmla="val 11111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7"/>
          <p:cNvSpPr/>
          <p:nvPr/>
        </p:nvSpPr>
        <p:spPr>
          <a:xfrm>
            <a:off x="685800" y="2541960"/>
            <a:ext cx="1051200" cy="420120"/>
          </a:xfrm>
          <a:prstGeom prst="roundRect">
            <a:avLst>
              <a:gd name="adj" fmla="val 13043"/>
            </a:avLst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8"/>
          <p:cNvSpPr/>
          <p:nvPr/>
        </p:nvSpPr>
        <p:spPr>
          <a:xfrm>
            <a:off x="685800" y="2541960"/>
            <a:ext cx="1051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HS-301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9"/>
          <p:cNvSpPr/>
          <p:nvPr/>
        </p:nvSpPr>
        <p:spPr>
          <a:xfrm>
            <a:off x="1874520" y="2423160"/>
            <a:ext cx="3245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Comando de início de abastecimento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0"/>
          <p:cNvSpPr/>
          <p:nvPr/>
        </p:nvSpPr>
        <p:spPr>
          <a:xfrm>
            <a:off x="5120640" y="2423160"/>
            <a:ext cx="685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622C"/>
                </a:solidFill>
                <a:effectLst/>
                <a:uFillTx/>
                <a:latin typeface="Courier New"/>
                <a:ea typeface="Courier New"/>
              </a:rPr>
              <a:t>h₃,₁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1"/>
          <p:cNvSpPr/>
          <p:nvPr/>
        </p:nvSpPr>
        <p:spPr>
          <a:xfrm>
            <a:off x="6172200" y="2423160"/>
            <a:ext cx="5348880" cy="658080"/>
          </a:xfrm>
          <a:prstGeom prst="roundRect">
            <a:avLst>
              <a:gd name="adj" fmla="val 11111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2"/>
          <p:cNvSpPr/>
          <p:nvPr/>
        </p:nvSpPr>
        <p:spPr>
          <a:xfrm>
            <a:off x="6309360" y="2541960"/>
            <a:ext cx="1051200" cy="420120"/>
          </a:xfrm>
          <a:prstGeom prst="roundRect">
            <a:avLst>
              <a:gd name="adj" fmla="val 13043"/>
            </a:avLst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3"/>
          <p:cNvSpPr/>
          <p:nvPr/>
        </p:nvSpPr>
        <p:spPr>
          <a:xfrm>
            <a:off x="6309360" y="2541960"/>
            <a:ext cx="1051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COM-301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4"/>
          <p:cNvSpPr/>
          <p:nvPr/>
        </p:nvSpPr>
        <p:spPr>
          <a:xfrm>
            <a:off x="7498080" y="2423160"/>
            <a:ext cx="3245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Comunicação de dados com o veículo (J2799)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5"/>
          <p:cNvSpPr/>
          <p:nvPr/>
        </p:nvSpPr>
        <p:spPr>
          <a:xfrm>
            <a:off x="10744200" y="2423160"/>
            <a:ext cx="685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622C"/>
                </a:solidFill>
                <a:effectLst/>
                <a:uFillTx/>
                <a:latin typeface="Courier New"/>
                <a:ea typeface="Courier New"/>
              </a:rPr>
              <a:t>c₃,₁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6"/>
          <p:cNvSpPr/>
          <p:nvPr/>
        </p:nvSpPr>
        <p:spPr>
          <a:xfrm>
            <a:off x="548640" y="3227760"/>
            <a:ext cx="5348880" cy="658080"/>
          </a:xfrm>
          <a:prstGeom prst="roundRect">
            <a:avLst>
              <a:gd name="adj" fmla="val 11111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7"/>
          <p:cNvSpPr/>
          <p:nvPr/>
        </p:nvSpPr>
        <p:spPr>
          <a:xfrm>
            <a:off x="685800" y="3346560"/>
            <a:ext cx="1051200" cy="420120"/>
          </a:xfrm>
          <a:prstGeom prst="roundRect">
            <a:avLst>
              <a:gd name="adj" fmla="val 13043"/>
            </a:avLst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8"/>
          <p:cNvSpPr/>
          <p:nvPr/>
        </p:nvSpPr>
        <p:spPr>
          <a:xfrm>
            <a:off x="685800" y="3346560"/>
            <a:ext cx="1051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BV-301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9"/>
          <p:cNvSpPr/>
          <p:nvPr/>
        </p:nvSpPr>
        <p:spPr>
          <a:xfrm>
            <a:off x="1874520" y="3227760"/>
            <a:ext cx="3245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Acoplamento breakaway conectado e íntegro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0"/>
          <p:cNvSpPr/>
          <p:nvPr/>
        </p:nvSpPr>
        <p:spPr>
          <a:xfrm>
            <a:off x="5120640" y="3227760"/>
            <a:ext cx="685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622C"/>
                </a:solidFill>
                <a:effectLst/>
                <a:uFillTx/>
                <a:latin typeface="Courier New"/>
                <a:ea typeface="Courier New"/>
              </a:rPr>
              <a:t>bv₃,₁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1"/>
          <p:cNvSpPr/>
          <p:nvPr/>
        </p:nvSpPr>
        <p:spPr>
          <a:xfrm>
            <a:off x="6172200" y="3227760"/>
            <a:ext cx="5348880" cy="658080"/>
          </a:xfrm>
          <a:prstGeom prst="roundRect">
            <a:avLst>
              <a:gd name="adj" fmla="val 11111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2"/>
          <p:cNvSpPr/>
          <p:nvPr/>
        </p:nvSpPr>
        <p:spPr>
          <a:xfrm>
            <a:off x="6309360" y="3346560"/>
            <a:ext cx="1051200" cy="420120"/>
          </a:xfrm>
          <a:prstGeom prst="roundRect">
            <a:avLst>
              <a:gd name="adj" fmla="val 13043"/>
            </a:avLst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3"/>
          <p:cNvSpPr/>
          <p:nvPr/>
        </p:nvSpPr>
        <p:spPr>
          <a:xfrm>
            <a:off x="6309360" y="3346560"/>
            <a:ext cx="1051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PT-301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4"/>
          <p:cNvSpPr/>
          <p:nvPr/>
        </p:nvSpPr>
        <p:spPr>
          <a:xfrm>
            <a:off x="7498080" y="3227760"/>
            <a:ext cx="3245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Pressão de enchimento ≈ 700 bar (setpoint)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5"/>
          <p:cNvSpPr/>
          <p:nvPr/>
        </p:nvSpPr>
        <p:spPr>
          <a:xfrm>
            <a:off x="10744200" y="3227760"/>
            <a:ext cx="685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622C"/>
                </a:solidFill>
                <a:effectLst/>
                <a:uFillTx/>
                <a:latin typeface="Courier New"/>
                <a:ea typeface="Courier New"/>
              </a:rPr>
              <a:t>p₃,₁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6"/>
          <p:cNvSpPr/>
          <p:nvPr/>
        </p:nvSpPr>
        <p:spPr>
          <a:xfrm>
            <a:off x="548640" y="4032360"/>
            <a:ext cx="5348880" cy="658080"/>
          </a:xfrm>
          <a:prstGeom prst="roundRect">
            <a:avLst>
              <a:gd name="adj" fmla="val 11111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7"/>
          <p:cNvSpPr/>
          <p:nvPr/>
        </p:nvSpPr>
        <p:spPr>
          <a:xfrm>
            <a:off x="685800" y="4151520"/>
            <a:ext cx="1051200" cy="420120"/>
          </a:xfrm>
          <a:prstGeom prst="roundRect">
            <a:avLst>
              <a:gd name="adj" fmla="val 13043"/>
            </a:avLst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8"/>
          <p:cNvSpPr/>
          <p:nvPr/>
        </p:nvSpPr>
        <p:spPr>
          <a:xfrm>
            <a:off x="685800" y="4151520"/>
            <a:ext cx="1051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TT-301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9"/>
          <p:cNvSpPr/>
          <p:nvPr/>
        </p:nvSpPr>
        <p:spPr>
          <a:xfrm>
            <a:off x="1874520" y="4032360"/>
            <a:ext cx="3245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Temperatura no receptáculo do veículo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0"/>
          <p:cNvSpPr/>
          <p:nvPr/>
        </p:nvSpPr>
        <p:spPr>
          <a:xfrm>
            <a:off x="5120640" y="4032360"/>
            <a:ext cx="685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622C"/>
                </a:solidFill>
                <a:effectLst/>
                <a:uFillTx/>
                <a:latin typeface="Courier New"/>
                <a:ea typeface="Courier New"/>
              </a:rPr>
              <a:t>t₃,₁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31"/>
          <p:cNvSpPr/>
          <p:nvPr/>
        </p:nvSpPr>
        <p:spPr>
          <a:xfrm>
            <a:off x="6172200" y="4032360"/>
            <a:ext cx="5348880" cy="658080"/>
          </a:xfrm>
          <a:prstGeom prst="roundRect">
            <a:avLst>
              <a:gd name="adj" fmla="val 11111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32"/>
          <p:cNvSpPr/>
          <p:nvPr/>
        </p:nvSpPr>
        <p:spPr>
          <a:xfrm>
            <a:off x="6309360" y="4151520"/>
            <a:ext cx="1051200" cy="420120"/>
          </a:xfrm>
          <a:prstGeom prst="roundRect">
            <a:avLst>
              <a:gd name="adj" fmla="val 13043"/>
            </a:avLst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33"/>
          <p:cNvSpPr/>
          <p:nvPr/>
        </p:nvSpPr>
        <p:spPr>
          <a:xfrm>
            <a:off x="6309360" y="4151520"/>
            <a:ext cx="1051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AT-301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34"/>
          <p:cNvSpPr/>
          <p:nvPr/>
        </p:nvSpPr>
        <p:spPr>
          <a:xfrm>
            <a:off x="7498080" y="4032360"/>
            <a:ext cx="3245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Detecção de vazamento de H₂ na área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5"/>
          <p:cNvSpPr/>
          <p:nvPr/>
        </p:nvSpPr>
        <p:spPr>
          <a:xfrm>
            <a:off x="10744200" y="4032360"/>
            <a:ext cx="685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622C"/>
                </a:solidFill>
                <a:effectLst/>
                <a:uFillTx/>
                <a:latin typeface="Courier New"/>
                <a:ea typeface="Courier New"/>
              </a:rPr>
              <a:t>g₃,₁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36"/>
          <p:cNvSpPr/>
          <p:nvPr/>
        </p:nvSpPr>
        <p:spPr>
          <a:xfrm>
            <a:off x="548640" y="4837320"/>
            <a:ext cx="5348880" cy="658080"/>
          </a:xfrm>
          <a:prstGeom prst="roundRect">
            <a:avLst>
              <a:gd name="adj" fmla="val 11111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7"/>
          <p:cNvSpPr/>
          <p:nvPr/>
        </p:nvSpPr>
        <p:spPr>
          <a:xfrm>
            <a:off x="685800" y="4956120"/>
            <a:ext cx="1051200" cy="420120"/>
          </a:xfrm>
          <a:prstGeom prst="roundRect">
            <a:avLst>
              <a:gd name="adj" fmla="val 13043"/>
            </a:avLst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8"/>
          <p:cNvSpPr/>
          <p:nvPr/>
        </p:nvSpPr>
        <p:spPr>
          <a:xfrm>
            <a:off x="685800" y="4956120"/>
            <a:ext cx="1051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XV-301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9"/>
          <p:cNvSpPr/>
          <p:nvPr/>
        </p:nvSpPr>
        <p:spPr>
          <a:xfrm>
            <a:off x="1874520" y="4837320"/>
            <a:ext cx="3245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Válvula solenoide do bico dispensador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40"/>
          <p:cNvSpPr/>
          <p:nvPr/>
        </p:nvSpPr>
        <p:spPr>
          <a:xfrm>
            <a:off x="5120640" y="4837320"/>
            <a:ext cx="685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622C"/>
                </a:solidFill>
                <a:effectLst/>
                <a:uFillTx/>
                <a:latin typeface="Courier New"/>
                <a:ea typeface="Courier New"/>
              </a:rPr>
              <a:t>v₃,₁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0"/>
          <p:cNvSpPr/>
          <p:nvPr/>
        </p:nvSpPr>
        <p:spPr>
          <a:xfrm>
            <a:off x="548640" y="457200"/>
            <a:ext cx="1416960" cy="32868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"/>
          <p:cNvSpPr/>
          <p:nvPr/>
        </p:nvSpPr>
        <p:spPr>
          <a:xfrm>
            <a:off x="548640" y="457200"/>
            <a:ext cx="141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SETOR 300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"/>
          <p:cNvSpPr/>
          <p:nvPr/>
        </p:nvSpPr>
        <p:spPr>
          <a:xfrm>
            <a:off x="548640" y="9144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Permissivo e trip de abastecimento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3"/>
          <p:cNvSpPr/>
          <p:nvPr/>
        </p:nvSpPr>
        <p:spPr>
          <a:xfrm>
            <a:off x="54864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9AA9B5"/>
                </a:solidFill>
                <a:effectLst/>
                <a:uFillTx/>
                <a:latin typeface="Calibri"/>
                <a:ea typeface="Calibri"/>
              </a:rPr>
              <a:t>ESTAÇÃO DE REABASTECIMENTO DE HIDROGÊNIO  ·  SCADA-CORE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4"/>
          <p:cNvSpPr/>
          <p:nvPr/>
        </p:nvSpPr>
        <p:spPr>
          <a:xfrm>
            <a:off x="1152144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5"/>
          <p:cNvSpPr/>
          <p:nvPr/>
        </p:nvSpPr>
        <p:spPr>
          <a:xfrm>
            <a:off x="548640" y="1737360"/>
            <a:ext cx="5394600" cy="4434480"/>
          </a:xfrm>
          <a:prstGeom prst="roundRect">
            <a:avLst>
              <a:gd name="adj" fmla="val 2474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6"/>
          <p:cNvSpPr/>
          <p:nvPr/>
        </p:nvSpPr>
        <p:spPr>
          <a:xfrm>
            <a:off x="548640" y="1737360"/>
            <a:ext cx="5394600" cy="72720"/>
          </a:xfrm>
          <a:prstGeom prst="rect">
            <a:avLst/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7"/>
          <p:cNvSpPr/>
          <p:nvPr/>
        </p:nvSpPr>
        <p:spPr>
          <a:xfrm>
            <a:off x="822960" y="1965960"/>
            <a:ext cx="502560" cy="502560"/>
          </a:xfrm>
          <a:prstGeom prst="ellipse">
            <a:avLst/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2" name="Image 0" descr="/home/claude/deck/icons/unlock.png"/>
          <p:cNvPicPr/>
          <p:nvPr/>
        </p:nvPicPr>
        <p:blipFill>
          <a:blip r:embed="rId1"/>
          <a:stretch/>
        </p:blipFill>
        <p:spPr>
          <a:xfrm>
            <a:off x="936000" y="207900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Text 8"/>
          <p:cNvSpPr/>
          <p:nvPr/>
        </p:nvSpPr>
        <p:spPr>
          <a:xfrm>
            <a:off x="1463040" y="199332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Permissivo de abertura (Pdisp)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9"/>
          <p:cNvSpPr/>
          <p:nvPr/>
        </p:nvSpPr>
        <p:spPr>
          <a:xfrm>
            <a:off x="822960" y="2606040"/>
            <a:ext cx="48459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E8622C"/>
                </a:solidFill>
                <a:effectLst/>
                <a:uFillTx/>
                <a:latin typeface="Courier New"/>
                <a:ea typeface="Courier New"/>
              </a:rPr>
              <a:t>h₃,₁ ∧ c₃,₁ ∧ bv₃,₁ ∧ ¬t₃,₁ ∧ p₃,₁ ∧ m₂,₁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E8622C"/>
                </a:solidFill>
                <a:effectLst/>
                <a:uFillTx/>
                <a:latin typeface="Courier New"/>
                <a:ea typeface="Courier New"/>
              </a:rPr>
              <a:t>∧ ¬g₁,ₓ ∧ ¬g₃,₁ ∧ ¬e₁,₁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0"/>
          <p:cNvSpPr/>
          <p:nvPr/>
        </p:nvSpPr>
        <p:spPr>
          <a:xfrm>
            <a:off x="822960" y="3611880"/>
            <a:ext cx="48459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5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9 condições — comando do operador, comunicação, breakaway, temperatura, pressão, chiller ligado, ausência de vazamentos e de emergência — devem valer simultaneamente.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1"/>
          <p:cNvSpPr/>
          <p:nvPr/>
        </p:nvSpPr>
        <p:spPr>
          <a:xfrm>
            <a:off x="822960" y="4572000"/>
            <a:ext cx="4846320" cy="360"/>
          </a:xfrm>
          <a:prstGeom prst="line">
            <a:avLst/>
          </a:prstGeom>
          <a:ln w="12700">
            <a:solidFill>
              <a:srgbClr val="DCE3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2"/>
          <p:cNvSpPr/>
          <p:nvPr/>
        </p:nvSpPr>
        <p:spPr>
          <a:xfrm>
            <a:off x="822960" y="470916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2A3D"/>
                </a:solidFill>
                <a:effectLst/>
                <a:uFillTx/>
                <a:latin typeface="Courier New"/>
                <a:ea typeface="Courier New"/>
              </a:rPr>
              <a:t>Pdisp → v₃,₁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3"/>
          <p:cNvSpPr/>
          <p:nvPr/>
        </p:nvSpPr>
        <p:spPr>
          <a:xfrm>
            <a:off x="822960" y="52578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8622C"/>
                </a:solidFill>
                <a:effectLst/>
                <a:uFillTx/>
                <a:latin typeface="Cambria"/>
                <a:ea typeface="Cambria"/>
              </a:rPr>
              <a:t>2⁹ = 512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4"/>
          <p:cNvSpPr/>
          <p:nvPr/>
        </p:nvSpPr>
        <p:spPr>
          <a:xfrm>
            <a:off x="822960" y="57150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estados possíveis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5"/>
          <p:cNvSpPr/>
          <p:nvPr/>
        </p:nvSpPr>
        <p:spPr>
          <a:xfrm>
            <a:off x="2450520" y="52578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8622C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6"/>
          <p:cNvSpPr/>
          <p:nvPr/>
        </p:nvSpPr>
        <p:spPr>
          <a:xfrm>
            <a:off x="2450520" y="57150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combinação libera (Pdisp)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7"/>
          <p:cNvSpPr/>
          <p:nvPr/>
        </p:nvSpPr>
        <p:spPr>
          <a:xfrm>
            <a:off x="4078080" y="52578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8622C"/>
                </a:solidFill>
                <a:effectLst/>
                <a:uFillTx/>
                <a:latin typeface="Cambria"/>
                <a:ea typeface="Cambria"/>
              </a:rPr>
              <a:t>480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8"/>
          <p:cNvSpPr/>
          <p:nvPr/>
        </p:nvSpPr>
        <p:spPr>
          <a:xfrm>
            <a:off x="4078080" y="57150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combinações em trip (F₃)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9"/>
          <p:cNvSpPr/>
          <p:nvPr/>
        </p:nvSpPr>
        <p:spPr>
          <a:xfrm>
            <a:off x="6217920" y="1737360"/>
            <a:ext cx="5421960" cy="205704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0"/>
          <p:cNvSpPr/>
          <p:nvPr/>
        </p:nvSpPr>
        <p:spPr>
          <a:xfrm>
            <a:off x="6217920" y="1737360"/>
            <a:ext cx="5421960" cy="72720"/>
          </a:xfrm>
          <a:prstGeom prst="rect">
            <a:avLst/>
          </a:prstGeom>
          <a:solidFill>
            <a:srgbClr val="C127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1"/>
          <p:cNvSpPr/>
          <p:nvPr/>
        </p:nvSpPr>
        <p:spPr>
          <a:xfrm>
            <a:off x="6492240" y="1965960"/>
            <a:ext cx="502560" cy="502560"/>
          </a:xfrm>
          <a:prstGeom prst="ellipse">
            <a:avLst/>
          </a:prstGeom>
          <a:solidFill>
            <a:srgbClr val="C127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7" name="Image 1" descr="/home/claude/deck/icons/alarm.png"/>
          <p:cNvPicPr/>
          <p:nvPr/>
        </p:nvPicPr>
        <p:blipFill>
          <a:blip r:embed="rId2"/>
          <a:stretch/>
        </p:blipFill>
        <p:spPr>
          <a:xfrm>
            <a:off x="6605280" y="207900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Text 22"/>
          <p:cNvSpPr/>
          <p:nvPr/>
        </p:nvSpPr>
        <p:spPr>
          <a:xfrm>
            <a:off x="7132320" y="199332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Trip de abastecimento (F₃)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3"/>
          <p:cNvSpPr/>
          <p:nvPr/>
        </p:nvSpPr>
        <p:spPr>
          <a:xfrm>
            <a:off x="6492240" y="260604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1272D"/>
                </a:solidFill>
                <a:effectLst/>
                <a:uFillTx/>
                <a:latin typeface="Courier New"/>
                <a:ea typeface="Courier New"/>
              </a:rPr>
              <a:t>F₃ ≡ t₃,₁ ∨ g₃,₁ ∨ ¬bv₃,₁ ∨ e₁,₁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4"/>
          <p:cNvSpPr/>
          <p:nvPr/>
        </p:nvSpPr>
        <p:spPr>
          <a:xfrm>
            <a:off x="6492240" y="3063240"/>
            <a:ext cx="4845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F₃ → ¬v₃,₁   (fecha XV-301 imediatamente)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5"/>
          <p:cNvSpPr/>
          <p:nvPr/>
        </p:nvSpPr>
        <p:spPr>
          <a:xfrm>
            <a:off x="6217920" y="3977640"/>
            <a:ext cx="5421960" cy="21942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6"/>
          <p:cNvSpPr/>
          <p:nvPr/>
        </p:nvSpPr>
        <p:spPr>
          <a:xfrm>
            <a:off x="6492240" y="4206240"/>
            <a:ext cx="548280" cy="548280"/>
          </a:xfrm>
          <a:prstGeom prst="ellipse">
            <a:avLst/>
          </a:prstGeom>
          <a:solidFill>
            <a:srgbClr val="E3B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3" name="Image 2" descr="/home/claude/deck/icons/shield.png"/>
          <p:cNvPicPr/>
          <p:nvPr/>
        </p:nvPicPr>
        <p:blipFill>
          <a:blip r:embed="rId3"/>
          <a:stretch/>
        </p:blipFill>
        <p:spPr>
          <a:xfrm>
            <a:off x="6629400" y="4343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Text 27"/>
          <p:cNvSpPr/>
          <p:nvPr/>
        </p:nvSpPr>
        <p:spPr>
          <a:xfrm>
            <a:off x="7223760" y="425196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Exclusividade mútua provada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8"/>
          <p:cNvSpPr/>
          <p:nvPr/>
        </p:nvSpPr>
        <p:spPr>
          <a:xfrm>
            <a:off x="6492240" y="480060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3B23C"/>
                </a:solidFill>
                <a:effectLst/>
                <a:uFillTx/>
                <a:latin typeface="Courier New"/>
                <a:ea typeface="Courier New"/>
              </a:rPr>
              <a:t>Pdisp ∧ F₃ ≡ FALSO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9"/>
          <p:cNvSpPr/>
          <p:nvPr/>
        </p:nvSpPr>
        <p:spPr>
          <a:xfrm>
            <a:off x="6492240" y="5257800"/>
            <a:ext cx="48459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9D6E0"/>
                </a:solidFill>
                <a:effectLst/>
                <a:uFillTx/>
                <a:latin typeface="Calibri"/>
                <a:ea typeface="Calibri"/>
              </a:rPr>
              <a:t>Cada variável de Pdisp aparece negada em F₃: a expansão da conjunção colapsa em uma contradição para todas as 512 combinações. O SCADA-Core nunca abre a válvula e dispara o trip ao mesmo tempo.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 0"/>
          <p:cNvSpPr/>
          <p:nvPr/>
        </p:nvSpPr>
        <p:spPr>
          <a:xfrm>
            <a:off x="54864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13253F"/>
                </a:solidFill>
                <a:effectLst/>
                <a:uFillTx/>
                <a:latin typeface="Calibri"/>
                <a:ea typeface="Calibri"/>
              </a:rPr>
              <a:t>FUNDAMENTOS FORMAIS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"/>
          <p:cNvSpPr/>
          <p:nvPr/>
        </p:nvSpPr>
        <p:spPr>
          <a:xfrm>
            <a:off x="548640" y="9144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Álgebra booleana e otimização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"/>
          <p:cNvSpPr/>
          <p:nvPr/>
        </p:nvSpPr>
        <p:spPr>
          <a:xfrm>
            <a:off x="54864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9AA9B5"/>
                </a:solidFill>
                <a:effectLst/>
                <a:uFillTx/>
                <a:latin typeface="Calibri"/>
                <a:ea typeface="Calibri"/>
              </a:rPr>
              <a:t>ESTAÇÃO DE REABASTECIMENTO DE HIDROGÊNIO  ·  SCADA-CORE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3"/>
          <p:cNvSpPr/>
          <p:nvPr/>
        </p:nvSpPr>
        <p:spPr>
          <a:xfrm>
            <a:off x="1152144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4"/>
          <p:cNvSpPr/>
          <p:nvPr/>
        </p:nvSpPr>
        <p:spPr>
          <a:xfrm>
            <a:off x="548640" y="169164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Toda equação de intertravamento pode ser escrita em Forma Normal Disjuntiva (FND) ou Conjuntiva (FNC). O algoritmo de Quine-McCluskey minimiza essas formas por adjacência lógica, reduzindo o custo de cada ciclo de varredura (scan) do CLP.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5"/>
          <p:cNvSpPr/>
          <p:nvPr/>
        </p:nvSpPr>
        <p:spPr>
          <a:xfrm>
            <a:off x="548640" y="2651760"/>
            <a:ext cx="5257440" cy="274284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6"/>
          <p:cNvSpPr/>
          <p:nvPr/>
        </p:nvSpPr>
        <p:spPr>
          <a:xfrm>
            <a:off x="822960" y="2880360"/>
            <a:ext cx="1051200" cy="3654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7"/>
          <p:cNvSpPr/>
          <p:nvPr/>
        </p:nvSpPr>
        <p:spPr>
          <a:xfrm>
            <a:off x="822960" y="2880360"/>
            <a:ext cx="1051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SETOR 100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8"/>
          <p:cNvSpPr/>
          <p:nvPr/>
        </p:nvSpPr>
        <p:spPr>
          <a:xfrm>
            <a:off x="2011680" y="2862000"/>
            <a:ext cx="3520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Trip do banco (F₁,ₓ)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9"/>
          <p:cNvSpPr/>
          <p:nvPr/>
        </p:nvSpPr>
        <p:spPr>
          <a:xfrm>
            <a:off x="822960" y="3364920"/>
            <a:ext cx="4708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4 variáveis · 2⁴ = 16 estados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0"/>
          <p:cNvSpPr/>
          <p:nvPr/>
        </p:nvSpPr>
        <p:spPr>
          <a:xfrm>
            <a:off x="822960" y="374904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CANÔNICA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1"/>
          <p:cNvSpPr/>
          <p:nvPr/>
        </p:nvSpPr>
        <p:spPr>
          <a:xfrm>
            <a:off x="822960" y="3977640"/>
            <a:ext cx="4708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C"/>
                </a:solidFill>
                <a:effectLst/>
                <a:uFillTx/>
                <a:latin typeface="Courier New"/>
                <a:ea typeface="Courier New"/>
              </a:rPr>
              <a:t>15 mintermos (FND canônica)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9" name="Image 0" descr="/home/claude/deck/icons/arrowright.png"/>
          <p:cNvPicPr/>
          <p:nvPr/>
        </p:nvPicPr>
        <p:blipFill>
          <a:blip r:embed="rId1"/>
          <a:stretch/>
        </p:blipFill>
        <p:spPr>
          <a:xfrm>
            <a:off x="2834640" y="438912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Shape 12"/>
          <p:cNvSpPr/>
          <p:nvPr/>
        </p:nvSpPr>
        <p:spPr>
          <a:xfrm>
            <a:off x="2788920" y="4352400"/>
            <a:ext cx="402120" cy="4021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1" name="Image 1" descr="/home/claude/deck/icons/arrowright.png"/>
          <p:cNvPicPr/>
          <p:nvPr/>
        </p:nvPicPr>
        <p:blipFill>
          <a:blip r:embed="rId2"/>
          <a:stretch/>
        </p:blipFill>
        <p:spPr>
          <a:xfrm>
            <a:off x="2875680" y="44395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Text 13"/>
          <p:cNvSpPr/>
          <p:nvPr/>
        </p:nvSpPr>
        <p:spPr>
          <a:xfrm>
            <a:off x="822960" y="489204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MINIMIZADA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4"/>
          <p:cNvSpPr/>
          <p:nvPr/>
        </p:nvSpPr>
        <p:spPr>
          <a:xfrm>
            <a:off x="822960" y="5120640"/>
            <a:ext cx="4708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2A3D"/>
                </a:solidFill>
                <a:effectLst/>
                <a:uFillTx/>
                <a:latin typeface="Courier New"/>
                <a:ea typeface="Courier New"/>
              </a:rPr>
              <a:t>p₁,ₓ ∨ t₁,ₓ ∨ g₁,ₓ ∨ e₁,₁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5"/>
          <p:cNvSpPr/>
          <p:nvPr/>
        </p:nvSpPr>
        <p:spPr>
          <a:xfrm>
            <a:off x="822960" y="4617720"/>
            <a:ext cx="47088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" b="0" u="none" strike="noStrike">
                <a:solidFill>
                  <a:srgbClr val="F4F7F9"/>
                </a:solidFill>
                <a:effectLst/>
                <a:uFillTx/>
                <a:latin typeface="Calibri"/>
                <a:ea typeface="Calibri"/>
              </a:rPr>
              <a:t>Já mínima — 4 literais, sem termos redundantes</a:t>
            </a:r>
            <a:endParaRPr lang="pt-BR" sz="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16"/>
          <p:cNvSpPr/>
          <p:nvPr/>
        </p:nvSpPr>
        <p:spPr>
          <a:xfrm>
            <a:off x="6080760" y="2651760"/>
            <a:ext cx="5257440" cy="274284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7"/>
          <p:cNvSpPr/>
          <p:nvPr/>
        </p:nvSpPr>
        <p:spPr>
          <a:xfrm>
            <a:off x="6355080" y="2880360"/>
            <a:ext cx="1051200" cy="3654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8"/>
          <p:cNvSpPr/>
          <p:nvPr/>
        </p:nvSpPr>
        <p:spPr>
          <a:xfrm>
            <a:off x="6355080" y="2880360"/>
            <a:ext cx="1051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SETOR 300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9"/>
          <p:cNvSpPr/>
          <p:nvPr/>
        </p:nvSpPr>
        <p:spPr>
          <a:xfrm>
            <a:off x="7543800" y="2862000"/>
            <a:ext cx="3520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Permissivo (Pdisp)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0"/>
          <p:cNvSpPr/>
          <p:nvPr/>
        </p:nvSpPr>
        <p:spPr>
          <a:xfrm>
            <a:off x="6355080" y="3364920"/>
            <a:ext cx="4708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9 variáveis · 2⁹ = 512 estados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1"/>
          <p:cNvSpPr/>
          <p:nvPr/>
        </p:nvSpPr>
        <p:spPr>
          <a:xfrm>
            <a:off x="6355080" y="374904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CANÔNICA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2"/>
          <p:cNvSpPr/>
          <p:nvPr/>
        </p:nvSpPr>
        <p:spPr>
          <a:xfrm>
            <a:off x="6355080" y="3977640"/>
            <a:ext cx="4708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B7C"/>
                </a:solidFill>
                <a:effectLst/>
                <a:uFillTx/>
                <a:latin typeface="Courier New"/>
                <a:ea typeface="Courier New"/>
              </a:rPr>
              <a:t>511 maxtermos (FNC canônica)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2" name="Image 2" descr="/home/claude/deck/icons/arrowright.png"/>
          <p:cNvPicPr/>
          <p:nvPr/>
        </p:nvPicPr>
        <p:blipFill>
          <a:blip r:embed="rId3"/>
          <a:stretch/>
        </p:blipFill>
        <p:spPr>
          <a:xfrm>
            <a:off x="8366760" y="438912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Shape 23"/>
          <p:cNvSpPr/>
          <p:nvPr/>
        </p:nvSpPr>
        <p:spPr>
          <a:xfrm>
            <a:off x="8321040" y="4352400"/>
            <a:ext cx="402120" cy="402120"/>
          </a:xfrm>
          <a:prstGeom prst="ellipse">
            <a:avLst/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4" name="Image 3" descr="/home/claude/deck/icons/arrowright.png"/>
          <p:cNvPicPr/>
          <p:nvPr/>
        </p:nvPicPr>
        <p:blipFill>
          <a:blip r:embed="rId4"/>
          <a:stretch/>
        </p:blipFill>
        <p:spPr>
          <a:xfrm>
            <a:off x="8407800" y="44395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ext 24"/>
          <p:cNvSpPr/>
          <p:nvPr/>
        </p:nvSpPr>
        <p:spPr>
          <a:xfrm>
            <a:off x="6355080" y="489204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E8622C"/>
                </a:solidFill>
                <a:effectLst/>
                <a:uFillTx/>
                <a:latin typeface="Calibri"/>
                <a:ea typeface="Calibri"/>
              </a:rPr>
              <a:t>MINIMIZADA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5"/>
          <p:cNvSpPr/>
          <p:nvPr/>
        </p:nvSpPr>
        <p:spPr>
          <a:xfrm>
            <a:off x="6355080" y="5120640"/>
            <a:ext cx="4708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2A3D"/>
                </a:solidFill>
                <a:effectLst/>
                <a:uFillTx/>
                <a:latin typeface="Courier New"/>
                <a:ea typeface="Courier New"/>
              </a:rPr>
              <a:t>9 cláusulas disjuntivas simplificadas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6"/>
          <p:cNvSpPr/>
          <p:nvPr/>
        </p:nvSpPr>
        <p:spPr>
          <a:xfrm>
            <a:off x="6355080" y="4617720"/>
            <a:ext cx="47088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" b="0" u="none" strike="noStrike">
                <a:solidFill>
                  <a:srgbClr val="F4F7F9"/>
                </a:solidFill>
                <a:effectLst/>
                <a:uFillTx/>
                <a:latin typeface="Calibri"/>
                <a:ea typeface="Calibri"/>
              </a:rPr>
              <a:t>Redução de 511 → 9 via De Morgan</a:t>
            </a:r>
            <a:endParaRPr lang="pt-BR" sz="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27"/>
          <p:cNvSpPr/>
          <p:nvPr/>
        </p:nvSpPr>
        <p:spPr>
          <a:xfrm>
            <a:off x="548640" y="5623560"/>
            <a:ext cx="10743840" cy="594000"/>
          </a:xfrm>
          <a:prstGeom prst="roundRect">
            <a:avLst>
              <a:gd name="adj" fmla="val 15385"/>
            </a:avLst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8"/>
          <p:cNvSpPr/>
          <p:nvPr/>
        </p:nvSpPr>
        <p:spPr>
          <a:xfrm>
            <a:off x="822960" y="5623560"/>
            <a:ext cx="10240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3B23C"/>
                </a:solidFill>
                <a:effectLst/>
                <a:uFillTx/>
                <a:latin typeface="Calibri"/>
                <a:ea typeface="Calibri"/>
              </a:rPr>
              <a:t>Validação: </a:t>
            </a:r>
            <a:r>
              <a:rPr lang="en-US" sz="1200" b="0" u="none" strike="noStrike">
                <a:solidFill>
                  <a:srgbClr val="E4ECF2"/>
                </a:solidFill>
                <a:effectLst/>
                <a:uFillTx/>
                <a:latin typeface="Calibri"/>
                <a:ea typeface="Calibri"/>
              </a:rPr>
              <a:t>todas as formas minimizadas são reavaliadas contra as 2ⁿ valorações originais — 100% de equivalência lógica confirmada.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 0"/>
          <p:cNvSpPr/>
          <p:nvPr/>
        </p:nvSpPr>
        <p:spPr>
          <a:xfrm>
            <a:off x="54864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13253F"/>
                </a:solidFill>
                <a:effectLst/>
                <a:uFillTx/>
                <a:latin typeface="Calibri"/>
                <a:ea typeface="Calibri"/>
              </a:rPr>
              <a:t>FUNDAMENTOS FORMAIS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"/>
          <p:cNvSpPr/>
          <p:nvPr/>
        </p:nvSpPr>
        <p:spPr>
          <a:xfrm>
            <a:off x="548640" y="9144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Lógica de predicados e inferência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"/>
          <p:cNvSpPr/>
          <p:nvPr/>
        </p:nvSpPr>
        <p:spPr>
          <a:xfrm>
            <a:off x="54864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9AA9B5"/>
                </a:solidFill>
                <a:effectLst/>
                <a:uFillTx/>
                <a:latin typeface="Calibri"/>
                <a:ea typeface="Calibri"/>
              </a:rPr>
              <a:t>ESTAÇÃO DE REABASTECIMENTO DE HIDROGÊNIO  ·  SCADA-CORE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3"/>
          <p:cNvSpPr/>
          <p:nvPr/>
        </p:nvSpPr>
        <p:spPr>
          <a:xfrm>
            <a:off x="1152144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4"/>
          <p:cNvSpPr/>
          <p:nvPr/>
        </p:nvSpPr>
        <p:spPr>
          <a:xfrm>
            <a:off x="548640" y="1737360"/>
            <a:ext cx="5394600" cy="4480200"/>
          </a:xfrm>
          <a:prstGeom prst="roundRect">
            <a:avLst>
              <a:gd name="adj" fmla="val 2449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5"/>
          <p:cNvSpPr/>
          <p:nvPr/>
        </p:nvSpPr>
        <p:spPr>
          <a:xfrm>
            <a:off x="822960" y="1965960"/>
            <a:ext cx="502560" cy="502560"/>
          </a:xfrm>
          <a:prstGeom prst="ellipse">
            <a:avLst/>
          </a:prstGeom>
          <a:solidFill>
            <a:srgbClr val="1325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6" name="Image 0" descr="/home/claude/deck/icons/search.png"/>
          <p:cNvPicPr/>
          <p:nvPr/>
        </p:nvPicPr>
        <p:blipFill>
          <a:blip r:embed="rId1"/>
          <a:stretch/>
        </p:blipFill>
        <p:spPr>
          <a:xfrm>
            <a:off x="936000" y="207900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Text 6"/>
          <p:cNvSpPr/>
          <p:nvPr/>
        </p:nvSpPr>
        <p:spPr>
          <a:xfrm>
            <a:off x="1463040" y="199332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Quantificadores (FOL)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7"/>
          <p:cNvSpPr/>
          <p:nvPr/>
        </p:nvSpPr>
        <p:spPr>
          <a:xfrm>
            <a:off x="822960" y="2560320"/>
            <a:ext cx="4845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Os três setores viram domínios finitos S₁₀₀, S₂₀₀, S₃₀₀ de instrumentos, avaliados por predicados como Pcrit(x) e Tcrit(x).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8"/>
          <p:cNvSpPr/>
          <p:nvPr/>
        </p:nvSpPr>
        <p:spPr>
          <a:xfrm>
            <a:off x="822960" y="3291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C1272D"/>
                </a:solidFill>
                <a:effectLst/>
                <a:uFillTx/>
                <a:latin typeface="Cambria"/>
                <a:ea typeface="Cambria"/>
              </a:rPr>
              <a:t>∃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9"/>
          <p:cNvSpPr/>
          <p:nvPr/>
        </p:nvSpPr>
        <p:spPr>
          <a:xfrm>
            <a:off x="1371600" y="3273480"/>
            <a:ext cx="4343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TRIP_SIS ⟺ ∃x∈S₁₀₀ (Pcrit(x)∨Tcrit(x)∨Gcrit(x)) ∨ e₁,₁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Existe ao menos um sensor crítico → alarme geral.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0"/>
          <p:cNvSpPr/>
          <p:nvPr/>
        </p:nvSpPr>
        <p:spPr>
          <a:xfrm>
            <a:off x="822960" y="41605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∀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1"/>
          <p:cNvSpPr/>
          <p:nvPr/>
        </p:nvSpPr>
        <p:spPr>
          <a:xfrm>
            <a:off x="1371600" y="4142160"/>
            <a:ext cx="4343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Armazenamento_OK ⟺ ∀x∈S₁₀₀ (¬Pcrit(x)∧¬Tcrit(x)∧¬Gcrit(x))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Todo instrumento deve estar dentro do limite.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2"/>
          <p:cNvSpPr/>
          <p:nvPr/>
        </p:nvSpPr>
        <p:spPr>
          <a:xfrm>
            <a:off x="822960" y="5120640"/>
            <a:ext cx="4845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51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O permissivo de XV-301 combina o ∀ universal do Setor 100 com estados discretos dos Setores 200 e 300 em uma única expressão de primeira ordem.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13"/>
          <p:cNvSpPr/>
          <p:nvPr/>
        </p:nvSpPr>
        <p:spPr>
          <a:xfrm>
            <a:off x="6217920" y="1737360"/>
            <a:ext cx="5421960" cy="4480200"/>
          </a:xfrm>
          <a:prstGeom prst="roundRect">
            <a:avLst>
              <a:gd name="adj" fmla="val 2449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4"/>
          <p:cNvSpPr/>
          <p:nvPr/>
        </p:nvSpPr>
        <p:spPr>
          <a:xfrm>
            <a:off x="6492240" y="1965960"/>
            <a:ext cx="502560" cy="502560"/>
          </a:xfrm>
          <a:prstGeom prst="ellipse">
            <a:avLst/>
          </a:prstGeom>
          <a:solidFill>
            <a:srgbClr val="1325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6" name="Image 1" descr="/home/claude/deck/icons/branch.png"/>
          <p:cNvPicPr/>
          <p:nvPr/>
        </p:nvPicPr>
        <p:blipFill>
          <a:blip r:embed="rId2"/>
          <a:stretch/>
        </p:blipFill>
        <p:spPr>
          <a:xfrm>
            <a:off x="6605280" y="2079000"/>
            <a:ext cx="276120" cy="2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Text 15"/>
          <p:cNvSpPr/>
          <p:nvPr/>
        </p:nvSpPr>
        <p:spPr>
          <a:xfrm>
            <a:off x="7132320" y="199332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Regras de inferência aplicadas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16"/>
          <p:cNvSpPr/>
          <p:nvPr/>
        </p:nvSpPr>
        <p:spPr>
          <a:xfrm>
            <a:off x="6492240" y="2606040"/>
            <a:ext cx="360" cy="685800"/>
          </a:xfrm>
          <a:prstGeom prst="line">
            <a:avLst/>
          </a:prstGeom>
          <a:ln w="38100">
            <a:solidFill>
              <a:srgbClr val="1325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7"/>
          <p:cNvSpPr/>
          <p:nvPr/>
        </p:nvSpPr>
        <p:spPr>
          <a:xfrm>
            <a:off x="6675120" y="2551320"/>
            <a:ext cx="475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3253F"/>
                </a:solidFill>
                <a:effectLst/>
                <a:uFillTx/>
                <a:latin typeface="Calibri"/>
                <a:ea typeface="Calibri"/>
              </a:rPr>
              <a:t>Modus Ponens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8"/>
          <p:cNvSpPr/>
          <p:nvPr/>
        </p:nvSpPr>
        <p:spPr>
          <a:xfrm>
            <a:off x="6675120" y="284364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p₁ excede o limite → trip; p₁ ocorre ⟹ ativa ESD-100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9"/>
          <p:cNvSpPr/>
          <p:nvPr/>
        </p:nvSpPr>
        <p:spPr>
          <a:xfrm>
            <a:off x="6492240" y="3502080"/>
            <a:ext cx="360" cy="685800"/>
          </a:xfrm>
          <a:prstGeom prst="line">
            <a:avLst/>
          </a:prstGeom>
          <a:ln w="38100">
            <a:solidFill>
              <a:srgbClr val="1325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0"/>
          <p:cNvSpPr/>
          <p:nvPr/>
        </p:nvSpPr>
        <p:spPr>
          <a:xfrm>
            <a:off x="6675120" y="3447360"/>
            <a:ext cx="475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3253F"/>
                </a:solidFill>
                <a:effectLst/>
                <a:uFillTx/>
                <a:latin typeface="Calibri"/>
                <a:ea typeface="Calibri"/>
              </a:rPr>
              <a:t>Modus Tollens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1"/>
          <p:cNvSpPr/>
          <p:nvPr/>
        </p:nvSpPr>
        <p:spPr>
          <a:xfrm>
            <a:off x="6675120" y="374004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Sem fluxo no sensor ⟹ a bomba não está ligada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22"/>
          <p:cNvSpPr/>
          <p:nvPr/>
        </p:nvSpPr>
        <p:spPr>
          <a:xfrm>
            <a:off x="6492240" y="4398120"/>
            <a:ext cx="360" cy="685800"/>
          </a:xfrm>
          <a:prstGeom prst="line">
            <a:avLst/>
          </a:prstGeom>
          <a:ln w="38100">
            <a:solidFill>
              <a:srgbClr val="1325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3"/>
          <p:cNvSpPr/>
          <p:nvPr/>
        </p:nvSpPr>
        <p:spPr>
          <a:xfrm>
            <a:off x="6675120" y="4343400"/>
            <a:ext cx="475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3253F"/>
                </a:solidFill>
                <a:effectLst/>
                <a:uFillTx/>
                <a:latin typeface="Calibri"/>
                <a:ea typeface="Calibri"/>
              </a:rPr>
              <a:t>Silogismo Hipotético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24"/>
          <p:cNvSpPr/>
          <p:nvPr/>
        </p:nvSpPr>
        <p:spPr>
          <a:xfrm>
            <a:off x="6675120" y="463608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Vazamento → fecha XV-101 → isola o Setor 100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25"/>
          <p:cNvSpPr/>
          <p:nvPr/>
        </p:nvSpPr>
        <p:spPr>
          <a:xfrm>
            <a:off x="6492240" y="5294160"/>
            <a:ext cx="360" cy="685800"/>
          </a:xfrm>
          <a:prstGeom prst="line">
            <a:avLst/>
          </a:prstGeom>
          <a:ln w="38100">
            <a:solidFill>
              <a:srgbClr val="1325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26"/>
          <p:cNvSpPr/>
          <p:nvPr/>
        </p:nvSpPr>
        <p:spPr>
          <a:xfrm>
            <a:off x="6675120" y="5239440"/>
            <a:ext cx="4754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3253F"/>
                </a:solidFill>
                <a:effectLst/>
                <a:uFillTx/>
                <a:latin typeface="Calibri"/>
                <a:ea typeface="Calibri"/>
              </a:rPr>
              <a:t>Silogismo Disjuntivo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27"/>
          <p:cNvSpPr/>
          <p:nvPr/>
        </p:nvSpPr>
        <p:spPr>
          <a:xfrm>
            <a:off x="6675120" y="553212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Tanque A despressurizado ⟹ usar Tanque B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ext 0"/>
          <p:cNvSpPr/>
          <p:nvPr/>
        </p:nvSpPr>
        <p:spPr>
          <a:xfrm>
            <a:off x="54864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13253F"/>
                </a:solidFill>
                <a:effectLst/>
                <a:uFillTx/>
                <a:latin typeface="Calibri"/>
                <a:ea typeface="Calibri"/>
              </a:rPr>
              <a:t>DIAGNÓSTICO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"/>
          <p:cNvSpPr/>
          <p:nvPr/>
        </p:nvSpPr>
        <p:spPr>
          <a:xfrm>
            <a:off x="548640" y="9144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Base de conhecimento e motor de inferência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"/>
          <p:cNvSpPr/>
          <p:nvPr/>
        </p:nvSpPr>
        <p:spPr>
          <a:xfrm>
            <a:off x="54864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9AA9B5"/>
                </a:solidFill>
                <a:effectLst/>
                <a:uFillTx/>
                <a:latin typeface="Calibri"/>
                <a:ea typeface="Calibri"/>
              </a:rPr>
              <a:t>ESTAÇÃO DE REABASTECIMENTO DE HIDROGÊNIO  ·  SCADA-CORE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3"/>
          <p:cNvSpPr/>
          <p:nvPr/>
        </p:nvSpPr>
        <p:spPr>
          <a:xfrm>
            <a:off x="1152144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4"/>
          <p:cNvSpPr/>
          <p:nvPr/>
        </p:nvSpPr>
        <p:spPr>
          <a:xfrm>
            <a:off x="548640" y="164592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Um sistema especialista baseado em regras de produção (⟨F, R, E⟩) traduz telemetria em fatos, casa padrões contra 14 regras e infere a causa-raiz — em Forward Chaining (dados → conclusões) ou Backward Chaining (meta → prova).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5" name="Table 0"/>
          <p:cNvGraphicFramePr/>
          <p:nvPr/>
        </p:nvGraphicFramePr>
        <p:xfrm>
          <a:off x="548640" y="2514600"/>
          <a:ext cx="7634880" cy="2559960"/>
        </p:xfrm>
        <a:graphic>
          <a:graphicData uri="http://schemas.openxmlformats.org/drawingml/2006/table">
            <a:tbl>
              <a:tblPr/>
              <a:tblGrid>
                <a:gridCol w="914400"/>
                <a:gridCol w="3063240"/>
                <a:gridCol w="2468880"/>
                <a:gridCol w="1188720"/>
              </a:tblGrid>
              <a:tr h="511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Regra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Antecedente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Diagnóstico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Severidade</a:t>
                      </a:r>
                      <a:endParaRPr lang="pt-BR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13253F"/>
                    </a:solidFill>
                  </a:tcPr>
                </a:tc>
              </a:tr>
              <a:tr h="511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R-02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Fluxo baixo ∧ Pressão baixa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Cavitação na bomba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E8622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CRÍTICA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R-03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Pressão alta ∧ Nível alto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Bloqueio na linha de saída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E8622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CRÍTICA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  <a:tr h="511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R-05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Gás alto ∧ XV-301 aberta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Vazamento de H₂ no dispensador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C1272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SIL 3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R-06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ourier New"/>
                          <a:ea typeface="Courier New"/>
                        </a:rPr>
                        <a:t>PT-101 alta ∧ TT-101 alta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1B2A3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Sobrepressão e sobretemperatura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C1272D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EMERGÊNCIA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DCE3E8"/>
                      </a:solidFill>
                      <a:prstDash val="solid"/>
                    </a:lnL>
                    <a:lnR w="9360">
                      <a:solidFill>
                        <a:srgbClr val="DCE3E8"/>
                      </a:solidFill>
                      <a:prstDash val="solid"/>
                    </a:lnR>
                    <a:lnT w="9360">
                      <a:solidFill>
                        <a:srgbClr val="DCE3E8"/>
                      </a:solidFill>
                      <a:prstDash val="solid"/>
                    </a:lnT>
                    <a:lnB w="9360">
                      <a:solidFill>
                        <a:srgbClr val="DCE3E8"/>
                      </a:solidFill>
                      <a:prstDash val="soli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356" name="Shape 5"/>
          <p:cNvSpPr/>
          <p:nvPr/>
        </p:nvSpPr>
        <p:spPr>
          <a:xfrm>
            <a:off x="8412480" y="2514600"/>
            <a:ext cx="3245760" cy="3702960"/>
          </a:xfrm>
          <a:prstGeom prst="roundRect">
            <a:avLst>
              <a:gd name="adj" fmla="val 3380"/>
            </a:avLst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6"/>
          <p:cNvSpPr/>
          <p:nvPr/>
        </p:nvSpPr>
        <p:spPr>
          <a:xfrm>
            <a:off x="8641080" y="2697480"/>
            <a:ext cx="2788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99" strike="noStrike">
                <a:solidFill>
                  <a:srgbClr val="9FB4C6"/>
                </a:solidFill>
                <a:effectLst/>
                <a:uFillTx/>
                <a:latin typeface="Calibri"/>
                <a:ea typeface="Calibri"/>
              </a:rPr>
              <a:t>MOTOR DE INFERÊNCIA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7"/>
          <p:cNvSpPr/>
          <p:nvPr/>
        </p:nvSpPr>
        <p:spPr>
          <a:xfrm>
            <a:off x="8641080" y="3063240"/>
            <a:ext cx="2788560" cy="438480"/>
          </a:xfrm>
          <a:prstGeom prst="roundRect">
            <a:avLst>
              <a:gd name="adj" fmla="val 50000"/>
            </a:avLst>
          </a:prstGeom>
          <a:solidFill>
            <a:srgbClr val="1325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8"/>
          <p:cNvSpPr/>
          <p:nvPr/>
        </p:nvSpPr>
        <p:spPr>
          <a:xfrm>
            <a:off x="8641080" y="3063240"/>
            <a:ext cx="2788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4ECF2"/>
                </a:solidFill>
                <a:effectLst/>
                <a:uFillTx/>
                <a:latin typeface="Calibri"/>
                <a:ea typeface="Calibri"/>
              </a:rPr>
              <a:t>Telemetria de campo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9"/>
          <p:cNvSpPr/>
          <p:nvPr/>
        </p:nvSpPr>
        <p:spPr>
          <a:xfrm>
            <a:off x="8641080" y="3666600"/>
            <a:ext cx="2788560" cy="438480"/>
          </a:xfrm>
          <a:prstGeom prst="roundRect">
            <a:avLst>
              <a:gd name="adj" fmla="val 50000"/>
            </a:avLst>
          </a:prstGeom>
          <a:solidFill>
            <a:srgbClr val="1325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0"/>
          <p:cNvSpPr/>
          <p:nvPr/>
        </p:nvSpPr>
        <p:spPr>
          <a:xfrm>
            <a:off x="8641080" y="3666600"/>
            <a:ext cx="2788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4ECF2"/>
                </a:solidFill>
                <a:effectLst/>
                <a:uFillTx/>
                <a:latin typeface="Calibri"/>
                <a:ea typeface="Calibri"/>
              </a:rPr>
              <a:t>Fatos binários F(t)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1"/>
          <p:cNvSpPr/>
          <p:nvPr/>
        </p:nvSpPr>
        <p:spPr>
          <a:xfrm>
            <a:off x="8641080" y="4270320"/>
            <a:ext cx="2788560" cy="438480"/>
          </a:xfrm>
          <a:prstGeom prst="roundRect">
            <a:avLst>
              <a:gd name="adj" fmla="val 50000"/>
            </a:avLst>
          </a:prstGeom>
          <a:solidFill>
            <a:srgbClr val="1325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2"/>
          <p:cNvSpPr/>
          <p:nvPr/>
        </p:nvSpPr>
        <p:spPr>
          <a:xfrm>
            <a:off x="8641080" y="4270320"/>
            <a:ext cx="2788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4ECF2"/>
                </a:solidFill>
                <a:effectLst/>
                <a:uFillTx/>
                <a:latin typeface="Calibri"/>
                <a:ea typeface="Calibri"/>
              </a:rPr>
              <a:t>Casamento de padrões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3"/>
          <p:cNvSpPr/>
          <p:nvPr/>
        </p:nvSpPr>
        <p:spPr>
          <a:xfrm>
            <a:off x="8641080" y="4873680"/>
            <a:ext cx="2788560" cy="438480"/>
          </a:xfrm>
          <a:prstGeom prst="roundRect">
            <a:avLst>
              <a:gd name="adj" fmla="val 50000"/>
            </a:avLst>
          </a:prstGeom>
          <a:solidFill>
            <a:srgbClr val="1325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4"/>
          <p:cNvSpPr/>
          <p:nvPr/>
        </p:nvSpPr>
        <p:spPr>
          <a:xfrm>
            <a:off x="8641080" y="4873680"/>
            <a:ext cx="2788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4ECF2"/>
                </a:solidFill>
                <a:effectLst/>
                <a:uFillTx/>
                <a:latin typeface="Calibri"/>
                <a:ea typeface="Calibri"/>
              </a:rPr>
              <a:t>Regras disparadas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15"/>
          <p:cNvSpPr/>
          <p:nvPr/>
        </p:nvSpPr>
        <p:spPr>
          <a:xfrm>
            <a:off x="8641080" y="5477400"/>
            <a:ext cx="2788560" cy="438480"/>
          </a:xfrm>
          <a:prstGeom prst="roundRect">
            <a:avLst>
              <a:gd name="adj" fmla="val 50000"/>
            </a:avLst>
          </a:prstGeom>
          <a:solidFill>
            <a:srgbClr val="E3B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6"/>
          <p:cNvSpPr/>
          <p:nvPr/>
        </p:nvSpPr>
        <p:spPr>
          <a:xfrm>
            <a:off x="8641080" y="5477400"/>
            <a:ext cx="2788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Causa-raiz + ação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ext 0"/>
          <p:cNvSpPr/>
          <p:nvPr/>
        </p:nvSpPr>
        <p:spPr>
          <a:xfrm>
            <a:off x="54864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13253F"/>
                </a:solidFill>
                <a:effectLst/>
                <a:uFillTx/>
                <a:latin typeface="Calibri"/>
                <a:ea typeface="Calibri"/>
              </a:rPr>
              <a:t>AVALIAÇÃO INTEGRADA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"/>
          <p:cNvSpPr/>
          <p:nvPr/>
        </p:nvSpPr>
        <p:spPr>
          <a:xfrm>
            <a:off x="548640" y="9144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SCADACoreModulo1: intertravamento + diagnóstico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2"/>
          <p:cNvSpPr/>
          <p:nvPr/>
        </p:nvSpPr>
        <p:spPr>
          <a:xfrm>
            <a:off x="54864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9AA9B5"/>
                </a:solidFill>
                <a:effectLst/>
                <a:uFillTx/>
                <a:latin typeface="Calibri"/>
                <a:ea typeface="Calibri"/>
              </a:rPr>
              <a:t>ESTAÇÃO DE REABASTECIMENTO DE HIDROGÊNIO  ·  SCADA-CORE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3"/>
          <p:cNvSpPr/>
          <p:nvPr/>
        </p:nvSpPr>
        <p:spPr>
          <a:xfrm>
            <a:off x="1152144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4"/>
          <p:cNvSpPr/>
          <p:nvPr/>
        </p:nvSpPr>
        <p:spPr>
          <a:xfrm>
            <a:off x="548640" y="164592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Um único ciclo de varredura integra o mapeador proposicional, as 14 regras da base de conhecimento e o motor Forward Chaining, avaliando simultaneamente os três setores da planta.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5"/>
          <p:cNvSpPr/>
          <p:nvPr/>
        </p:nvSpPr>
        <p:spPr>
          <a:xfrm>
            <a:off x="548640" y="2423160"/>
            <a:ext cx="5257440" cy="3520080"/>
          </a:xfrm>
          <a:prstGeom prst="roundRect">
            <a:avLst>
              <a:gd name="adj" fmla="val 3117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6"/>
          <p:cNvSpPr/>
          <p:nvPr/>
        </p:nvSpPr>
        <p:spPr>
          <a:xfrm>
            <a:off x="822960" y="2651760"/>
            <a:ext cx="548280" cy="548280"/>
          </a:xfrm>
          <a:prstGeom prst="ellipse">
            <a:avLst/>
          </a:prstGeom>
          <a:solidFill>
            <a:srgbClr val="C127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5" name="Image 0" descr="/home/claude/deck/icons/timescircle.png"/>
          <p:cNvPicPr/>
          <p:nvPr/>
        </p:nvPicPr>
        <p:blipFill>
          <a:blip r:embed="rId1"/>
          <a:stretch/>
        </p:blipFill>
        <p:spPr>
          <a:xfrm>
            <a:off x="946440" y="277524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Text 7"/>
          <p:cNvSpPr/>
          <p:nvPr/>
        </p:nvSpPr>
        <p:spPr>
          <a:xfrm>
            <a:off x="1554480" y="267912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99" strike="noStrike">
                <a:solidFill>
                  <a:srgbClr val="C1272D"/>
                </a:solidFill>
                <a:effectLst/>
                <a:uFillTx/>
                <a:latin typeface="Calibri"/>
                <a:ea typeface="Calibri"/>
              </a:rPr>
              <a:t>CENÁRIO DE FALHA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8"/>
          <p:cNvSpPr/>
          <p:nvPr/>
        </p:nvSpPr>
        <p:spPr>
          <a:xfrm>
            <a:off x="822960" y="3246120"/>
            <a:ext cx="470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TELEMETRIA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9"/>
          <p:cNvSpPr/>
          <p:nvPr/>
        </p:nvSpPr>
        <p:spPr>
          <a:xfrm>
            <a:off x="822960" y="3474720"/>
            <a:ext cx="4708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A3D"/>
                </a:solidFill>
                <a:effectLst/>
                <a:uFillTx/>
                <a:latin typeface="Courier New"/>
                <a:ea typeface="Courier New"/>
              </a:rPr>
              <a:t>PT-103 = 1050 bar  ·  XV-103 aberta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0"/>
          <p:cNvSpPr/>
          <p:nvPr/>
        </p:nvSpPr>
        <p:spPr>
          <a:xfrm>
            <a:off x="822960" y="3977640"/>
            <a:ext cx="4709160" cy="360"/>
          </a:xfrm>
          <a:prstGeom prst="line">
            <a:avLst/>
          </a:prstGeom>
          <a:ln w="12700">
            <a:solidFill>
              <a:srgbClr val="DCE3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1"/>
          <p:cNvSpPr/>
          <p:nvPr/>
        </p:nvSpPr>
        <p:spPr>
          <a:xfrm>
            <a:off x="822960" y="4114800"/>
            <a:ext cx="470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RESULTADO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2"/>
          <p:cNvSpPr/>
          <p:nvPr/>
        </p:nvSpPr>
        <p:spPr>
          <a:xfrm>
            <a:off x="822960" y="4343400"/>
            <a:ext cx="4708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1272D"/>
                </a:solidFill>
                <a:effectLst/>
                <a:uFillTx/>
                <a:latin typeface="Courier New"/>
                <a:ea typeface="Courier New"/>
              </a:rPr>
              <a:t>Trip_Ativo = True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3"/>
          <p:cNvSpPr/>
          <p:nvPr/>
        </p:nvSpPr>
        <p:spPr>
          <a:xfrm>
            <a:off x="822960" y="4892040"/>
            <a:ext cx="470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DIAGNÓSTICO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4"/>
          <p:cNvSpPr/>
          <p:nvPr/>
        </p:nvSpPr>
        <p:spPr>
          <a:xfrm>
            <a:off x="822960" y="5120640"/>
            <a:ext cx="4708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Causa-raiz: TRIP_TANQUE_ALTA (via SOBREPRESSAO_TANQUE_ALTA)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5"/>
          <p:cNvSpPr/>
          <p:nvPr/>
        </p:nvSpPr>
        <p:spPr>
          <a:xfrm>
            <a:off x="6080760" y="2423160"/>
            <a:ext cx="5257440" cy="3520080"/>
          </a:xfrm>
          <a:prstGeom prst="roundRect">
            <a:avLst>
              <a:gd name="adj" fmla="val 3117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6"/>
          <p:cNvSpPr/>
          <p:nvPr/>
        </p:nvSpPr>
        <p:spPr>
          <a:xfrm>
            <a:off x="6355080" y="2651760"/>
            <a:ext cx="548280" cy="5482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6" name="Image 1" descr="/home/claude/deck/icons/checkcircle.png"/>
          <p:cNvPicPr/>
          <p:nvPr/>
        </p:nvPicPr>
        <p:blipFill>
          <a:blip r:embed="rId2"/>
          <a:stretch/>
        </p:blipFill>
        <p:spPr>
          <a:xfrm>
            <a:off x="6478560" y="277524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7" name="Text 17"/>
          <p:cNvSpPr/>
          <p:nvPr/>
        </p:nvSpPr>
        <p:spPr>
          <a:xfrm>
            <a:off x="7086600" y="267912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99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CENÁRIO NORMAL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8"/>
          <p:cNvSpPr/>
          <p:nvPr/>
        </p:nvSpPr>
        <p:spPr>
          <a:xfrm>
            <a:off x="6355080" y="3246120"/>
            <a:ext cx="470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TELEMETRIA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9"/>
          <p:cNvSpPr/>
          <p:nvPr/>
        </p:nvSpPr>
        <p:spPr>
          <a:xfrm>
            <a:off x="6355080" y="3474720"/>
            <a:ext cx="4708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A3D"/>
                </a:solidFill>
                <a:effectLst/>
                <a:uFillTx/>
                <a:latin typeface="Courier New"/>
                <a:ea typeface="Courier New"/>
              </a:rPr>
              <a:t>PT-301 = 705 bar  (setpoint do veículo)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20"/>
          <p:cNvSpPr/>
          <p:nvPr/>
        </p:nvSpPr>
        <p:spPr>
          <a:xfrm>
            <a:off x="6355080" y="3977640"/>
            <a:ext cx="4709160" cy="360"/>
          </a:xfrm>
          <a:prstGeom prst="line">
            <a:avLst/>
          </a:prstGeom>
          <a:ln w="12700">
            <a:solidFill>
              <a:srgbClr val="DCE3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1"/>
          <p:cNvSpPr/>
          <p:nvPr/>
        </p:nvSpPr>
        <p:spPr>
          <a:xfrm>
            <a:off x="6355080" y="4114800"/>
            <a:ext cx="470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RESULTADO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22"/>
          <p:cNvSpPr/>
          <p:nvPr/>
        </p:nvSpPr>
        <p:spPr>
          <a:xfrm>
            <a:off x="6355080" y="4343400"/>
            <a:ext cx="4708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C7293"/>
                </a:solidFill>
                <a:effectLst/>
                <a:uFillTx/>
                <a:latin typeface="Courier New"/>
                <a:ea typeface="Courier New"/>
              </a:rPr>
              <a:t>Trip_Ativo = False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3"/>
          <p:cNvSpPr/>
          <p:nvPr/>
        </p:nvSpPr>
        <p:spPr>
          <a:xfrm>
            <a:off x="6355080" y="4892040"/>
            <a:ext cx="4708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DIAGNÓSTICO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24"/>
          <p:cNvSpPr/>
          <p:nvPr/>
        </p:nvSpPr>
        <p:spPr>
          <a:xfrm>
            <a:off x="6355080" y="5120640"/>
            <a:ext cx="4708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3D"/>
                </a:solidFill>
                <a:effectLst/>
                <a:uFillTx/>
                <a:latin typeface="Calibri"/>
                <a:ea typeface="Calibri"/>
              </a:rPr>
              <a:t>Diagnóstico: ABASTECIMENTO_CONCLUIDO, sem trip espúrio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Text 0"/>
          <p:cNvSpPr/>
          <p:nvPr/>
        </p:nvSpPr>
        <p:spPr>
          <a:xfrm>
            <a:off x="548640" y="457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13253F"/>
                </a:solidFill>
                <a:effectLst/>
                <a:uFillTx/>
                <a:latin typeface="Calibri"/>
                <a:ea typeface="Calibri"/>
              </a:rPr>
              <a:t>CONCLUSÃO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"/>
          <p:cNvSpPr/>
          <p:nvPr/>
        </p:nvSpPr>
        <p:spPr>
          <a:xfrm>
            <a:off x="548640" y="9144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O que a lógica formal entrega ao SCADA-Core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"/>
          <p:cNvSpPr/>
          <p:nvPr/>
        </p:nvSpPr>
        <p:spPr>
          <a:xfrm>
            <a:off x="54864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9AA9B5"/>
                </a:solidFill>
                <a:effectLst/>
                <a:uFillTx/>
                <a:latin typeface="Calibri"/>
                <a:ea typeface="Calibri"/>
              </a:rPr>
              <a:t>ESTAÇÃO DE REABASTECIMENTO DE HIDROGÊNIO  ·  SCADA-CORE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3"/>
          <p:cNvSpPr/>
          <p:nvPr/>
        </p:nvSpPr>
        <p:spPr>
          <a:xfrm>
            <a:off x="1152144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4"/>
          <p:cNvSpPr/>
          <p:nvPr/>
        </p:nvSpPr>
        <p:spPr>
          <a:xfrm>
            <a:off x="548640" y="1874520"/>
            <a:ext cx="5257440" cy="191988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5"/>
          <p:cNvSpPr/>
          <p:nvPr/>
        </p:nvSpPr>
        <p:spPr>
          <a:xfrm>
            <a:off x="822960" y="2130480"/>
            <a:ext cx="548280" cy="548280"/>
          </a:xfrm>
          <a:prstGeom prst="ellipse">
            <a:avLst/>
          </a:prstGeom>
          <a:solidFill>
            <a:srgbClr val="1325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1" name="Image 0" descr="/home/claude/deck/icons/shield.png"/>
          <p:cNvPicPr/>
          <p:nvPr/>
        </p:nvPicPr>
        <p:blipFill>
          <a:blip r:embed="rId1"/>
          <a:stretch/>
        </p:blipFill>
        <p:spPr>
          <a:xfrm>
            <a:off x="946440" y="225396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2" name="Text 6"/>
          <p:cNvSpPr/>
          <p:nvPr/>
        </p:nvSpPr>
        <p:spPr>
          <a:xfrm>
            <a:off x="1554480" y="2130480"/>
            <a:ext cx="3977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Segurança comprovável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7"/>
          <p:cNvSpPr/>
          <p:nvPr/>
        </p:nvSpPr>
        <p:spPr>
          <a:xfrm>
            <a:off x="822960" y="2807280"/>
            <a:ext cx="4708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Permissivos e trips são provados matematicamente livres de conflito — não apenas testados.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8"/>
          <p:cNvSpPr/>
          <p:nvPr/>
        </p:nvSpPr>
        <p:spPr>
          <a:xfrm>
            <a:off x="6080760" y="1874520"/>
            <a:ext cx="5257440" cy="191988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9"/>
          <p:cNvSpPr/>
          <p:nvPr/>
        </p:nvSpPr>
        <p:spPr>
          <a:xfrm>
            <a:off x="6355080" y="2130480"/>
            <a:ext cx="548280" cy="548280"/>
          </a:xfrm>
          <a:prstGeom prst="ellipse">
            <a:avLst/>
          </a:prstGeom>
          <a:solidFill>
            <a:srgbClr val="1325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6" name="Image 1" descr="/home/claude/deck/icons/calc.png"/>
          <p:cNvPicPr/>
          <p:nvPr/>
        </p:nvPicPr>
        <p:blipFill>
          <a:blip r:embed="rId2"/>
          <a:stretch/>
        </p:blipFill>
        <p:spPr>
          <a:xfrm>
            <a:off x="6478560" y="225396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7" name="Text 10"/>
          <p:cNvSpPr/>
          <p:nvPr/>
        </p:nvSpPr>
        <p:spPr>
          <a:xfrm>
            <a:off x="7086600" y="2130480"/>
            <a:ext cx="3977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Eficiência de scan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1"/>
          <p:cNvSpPr/>
          <p:nvPr/>
        </p:nvSpPr>
        <p:spPr>
          <a:xfrm>
            <a:off x="6355080" y="2807280"/>
            <a:ext cx="4708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A minimização booleana reduz a complexidade das equações executadas a cada ciclo do CLP.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12"/>
          <p:cNvSpPr/>
          <p:nvPr/>
        </p:nvSpPr>
        <p:spPr>
          <a:xfrm>
            <a:off x="548640" y="4023360"/>
            <a:ext cx="5257440" cy="191988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13"/>
          <p:cNvSpPr/>
          <p:nvPr/>
        </p:nvSpPr>
        <p:spPr>
          <a:xfrm>
            <a:off x="822960" y="4279320"/>
            <a:ext cx="548280" cy="548280"/>
          </a:xfrm>
          <a:prstGeom prst="ellipse">
            <a:avLst/>
          </a:prstGeom>
          <a:solidFill>
            <a:srgbClr val="1325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1" name="Image 2" descr="/home/claude/deck/icons/brain.png"/>
          <p:cNvPicPr/>
          <p:nvPr/>
        </p:nvPicPr>
        <p:blipFill>
          <a:blip r:embed="rId3"/>
          <a:stretch/>
        </p:blipFill>
        <p:spPr>
          <a:xfrm>
            <a:off x="946440" y="440280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2" name="Text 14"/>
          <p:cNvSpPr/>
          <p:nvPr/>
        </p:nvSpPr>
        <p:spPr>
          <a:xfrm>
            <a:off x="1554480" y="4279320"/>
            <a:ext cx="3977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Diagnóstico autônomo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5"/>
          <p:cNvSpPr/>
          <p:nvPr/>
        </p:nvSpPr>
        <p:spPr>
          <a:xfrm>
            <a:off x="822960" y="4956120"/>
            <a:ext cx="4708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A base de 14 regras infere causa-raiz em tempo real, apoiando o operador na tomada de decisão.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16"/>
          <p:cNvSpPr/>
          <p:nvPr/>
        </p:nvSpPr>
        <p:spPr>
          <a:xfrm>
            <a:off x="6080760" y="4023360"/>
            <a:ext cx="5257440" cy="1919880"/>
          </a:xfrm>
          <a:prstGeom prst="roundRect">
            <a:avLst>
              <a:gd name="adj" fmla="val 5714"/>
            </a:avLst>
          </a:prstGeom>
          <a:solidFill>
            <a:srgbClr val="F4F7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17"/>
          <p:cNvSpPr/>
          <p:nvPr/>
        </p:nvSpPr>
        <p:spPr>
          <a:xfrm>
            <a:off x="6355080" y="4279320"/>
            <a:ext cx="548280" cy="548280"/>
          </a:xfrm>
          <a:prstGeom prst="ellipse">
            <a:avLst/>
          </a:prstGeom>
          <a:solidFill>
            <a:srgbClr val="1325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6" name="Image 3" descr="/home/claude/deck/icons/layers.png"/>
          <p:cNvPicPr/>
          <p:nvPr/>
        </p:nvPicPr>
        <p:blipFill>
          <a:blip r:embed="rId4"/>
          <a:stretch/>
        </p:blipFill>
        <p:spPr>
          <a:xfrm>
            <a:off x="6478560" y="4402800"/>
            <a:ext cx="30132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Text 18"/>
          <p:cNvSpPr/>
          <p:nvPr/>
        </p:nvSpPr>
        <p:spPr>
          <a:xfrm>
            <a:off x="7086600" y="4279320"/>
            <a:ext cx="3977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B2A3D"/>
                </a:solidFill>
                <a:effectLst/>
                <a:uFillTx/>
                <a:latin typeface="Cambria"/>
                <a:ea typeface="Cambria"/>
              </a:rPr>
              <a:t>Arquitetura por setor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9"/>
          <p:cNvSpPr/>
          <p:nvPr/>
        </p:nvSpPr>
        <p:spPr>
          <a:xfrm>
            <a:off x="6355080" y="4956120"/>
            <a:ext cx="4708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A separação 100 / 200 / 300 mantém o projeto modular, rastreável e escalável.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20"/>
          <p:cNvSpPr/>
          <p:nvPr/>
        </p:nvSpPr>
        <p:spPr>
          <a:xfrm>
            <a:off x="548640" y="605340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B6B7C"/>
                </a:solidFill>
                <a:effectLst/>
                <a:uFillTx/>
                <a:latin typeface="Calibri"/>
                <a:ea typeface="Calibri"/>
              </a:rPr>
              <a:t>Próxima etapa: tradução destas equações de intertravamento e da base de conhecimento para blocos de função no CLP e para as telas de supervisão do SCADA.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0"/>
          <p:cNvSpPr/>
          <p:nvPr/>
        </p:nvSpPr>
        <p:spPr>
          <a:xfrm>
            <a:off x="5385960" y="1371600"/>
            <a:ext cx="1416960" cy="14169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1" name="Image 0" descr="/home/claude/deck/icons/hydrogen.png"/>
          <p:cNvPicPr/>
          <p:nvPr/>
        </p:nvPicPr>
        <p:blipFill>
          <a:blip r:embed="rId1"/>
          <a:stretch/>
        </p:blipFill>
        <p:spPr>
          <a:xfrm>
            <a:off x="5704560" y="1690560"/>
            <a:ext cx="779040" cy="77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2" name="Text 1"/>
          <p:cNvSpPr/>
          <p:nvPr/>
        </p:nvSpPr>
        <p:spPr>
          <a:xfrm>
            <a:off x="0" y="3017520"/>
            <a:ext cx="1219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Obrigado</a:t>
            </a:r>
            <a:endParaRPr lang="pt-B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2"/>
          <p:cNvSpPr/>
          <p:nvPr/>
        </p:nvSpPr>
        <p:spPr>
          <a:xfrm>
            <a:off x="0" y="379476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FB4C6"/>
                </a:solidFill>
                <a:effectLst/>
                <a:uFillTx/>
                <a:latin typeface="Calibri"/>
                <a:ea typeface="Calibri"/>
              </a:rPr>
              <a:t>Estação de Reabastecimento de Hidrogênio · SCADA-Core · Etapa 01 — Lógica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3"/>
          <p:cNvSpPr/>
          <p:nvPr/>
        </p:nvSpPr>
        <p:spPr>
          <a:xfrm>
            <a:off x="4269960" y="4480560"/>
            <a:ext cx="3657600" cy="360"/>
          </a:xfrm>
          <a:prstGeom prst="line">
            <a:avLst/>
          </a:prstGeom>
          <a:ln w="9525">
            <a:solidFill>
              <a:srgbClr val="FFFFF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4"/>
          <p:cNvSpPr/>
          <p:nvPr/>
        </p:nvSpPr>
        <p:spPr>
          <a:xfrm>
            <a:off x="0" y="470916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6E0"/>
                </a:solidFill>
                <a:effectLst/>
                <a:uFillTx/>
                <a:latin typeface="Calibri"/>
                <a:ea typeface="Calibri"/>
              </a:rPr>
              <a:t>João Pedro   ·   Marcelo Candelária   ·   Luca Augusto   ·   Leo Vargas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5"/>
          <p:cNvSpPr/>
          <p:nvPr/>
        </p:nvSpPr>
        <p:spPr>
          <a:xfrm>
            <a:off x="0" y="5120640"/>
            <a:ext cx="1219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E8399"/>
                </a:solidFill>
                <a:effectLst/>
                <a:uFillTx/>
                <a:latin typeface="Courier New"/>
                <a:ea typeface="Courier New"/>
              </a:rPr>
              <a:t>github.com/leovarconrenno/Estacao-de-Reabastecimento-de-Hidrogenio---SCADA-Core</a:t>
            </a:r>
            <a:endParaRPr lang="pt-B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Application>LibreOffice/26.2.4.2$Windows_X86_64 LibreOffice_project/0229ac93fcf0d7cbc6376066c6f35021cef002dc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2026-09-01T17:56:01Z</dcterms:created>
  <dc:creator>PptxGenJS</dc:creator>
  <dc:description/>
  <dc:language>pt-BR</dc:language>
  <cp:lastModifiedBy/>
  <dcterms:modified xsi:type="dcterms:W3CDTF">2026-09-01T18:29:57Z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